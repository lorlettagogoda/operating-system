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3" r:id="rId1"/>
  </p:sldMasterIdLst>
  <p:sldIdLst>
    <p:sldId id="287" r:id="rId2"/>
    <p:sldId id="258" r:id="rId3"/>
    <p:sldId id="257" r:id="rId4"/>
    <p:sldId id="266" r:id="rId5"/>
    <p:sldId id="264" r:id="rId6"/>
    <p:sldId id="265" r:id="rId7"/>
    <p:sldId id="269" r:id="rId8"/>
    <p:sldId id="270" r:id="rId9"/>
    <p:sldId id="271" r:id="rId10"/>
    <p:sldId id="272" r:id="rId11"/>
    <p:sldId id="274" r:id="rId12"/>
    <p:sldId id="273" r:id="rId13"/>
    <p:sldId id="275" r:id="rId14"/>
    <p:sldId id="276" r:id="rId15"/>
    <p:sldId id="277" r:id="rId16"/>
    <p:sldId id="279" r:id="rId17"/>
    <p:sldId id="278" r:id="rId18"/>
    <p:sldId id="280" r:id="rId19"/>
    <p:sldId id="281" r:id="rId20"/>
    <p:sldId id="283" r:id="rId21"/>
    <p:sldId id="282" r:id="rId22"/>
    <p:sldId id="284" r:id="rId23"/>
    <p:sldId id="285" r:id="rId24"/>
    <p:sldId id="286" r:id="rId25"/>
    <p:sldId id="28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3" autoAdjust="0"/>
    <p:restoredTop sz="94660"/>
  </p:normalViewPr>
  <p:slideViewPr>
    <p:cSldViewPr snapToGrid="0">
      <p:cViewPr varScale="1">
        <p:scale>
          <a:sx n="66" d="100"/>
          <a:sy n="66" d="100"/>
        </p:scale>
        <p:origin x="48"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9199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56921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34300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61628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93124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751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79996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6226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01754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27296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0016366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571901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534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98365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51632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28136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5/27/2026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41259398"/>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ithub.com/lorlettagogoda/operating-system.git" TargetMode="Externa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62859" y="1257078"/>
            <a:ext cx="8596668" cy="1826581"/>
          </a:xfrm>
        </p:spPr>
        <p:txBody>
          <a:bodyPr/>
          <a:lstStyle/>
          <a:p>
            <a:r>
              <a:rPr lang="en-US" dirty="0" smtClean="0"/>
              <a:t>EDUOS SIMULATOR PROJECT</a:t>
            </a:r>
            <a:endParaRPr lang="en-US" dirty="0"/>
          </a:p>
        </p:txBody>
      </p:sp>
      <p:sp>
        <p:nvSpPr>
          <p:cNvPr id="4" name="Text Placeholder 3"/>
          <p:cNvSpPr>
            <a:spLocks noGrp="1"/>
          </p:cNvSpPr>
          <p:nvPr>
            <p:ph type="body" idx="1"/>
          </p:nvPr>
        </p:nvSpPr>
        <p:spPr>
          <a:xfrm>
            <a:off x="5008703" y="3237663"/>
            <a:ext cx="4809065" cy="860400"/>
          </a:xfrm>
        </p:spPr>
        <p:txBody>
          <a:bodyPr>
            <a:noAutofit/>
          </a:bodyPr>
          <a:lstStyle/>
          <a:p>
            <a:r>
              <a:rPr lang="en-US" sz="1800" dirty="0" smtClean="0"/>
              <a:t>Written by </a:t>
            </a:r>
            <a:r>
              <a:rPr lang="en-US" sz="1800" b="1" dirty="0" err="1" smtClean="0"/>
              <a:t>Lorletta</a:t>
            </a:r>
            <a:r>
              <a:rPr lang="en-US" sz="1800" b="1" dirty="0" smtClean="0"/>
              <a:t> </a:t>
            </a:r>
            <a:r>
              <a:rPr lang="en-US" sz="1800" b="1" dirty="0" err="1" smtClean="0"/>
              <a:t>Gogoda</a:t>
            </a:r>
            <a:endParaRPr lang="en-US" sz="1800" dirty="0"/>
          </a:p>
          <a:p>
            <a:r>
              <a:rPr lang="en-US" sz="1800" dirty="0" smtClean="0"/>
              <a:t>25 311 351 031</a:t>
            </a:r>
            <a:endParaRPr lang="en-US" sz="1800" dirty="0"/>
          </a:p>
        </p:txBody>
      </p:sp>
    </p:spTree>
    <p:extLst>
      <p:ext uri="{BB962C8B-B14F-4D97-AF65-F5344CB8AC3E}">
        <p14:creationId xmlns:p14="http://schemas.microsoft.com/office/powerpoint/2010/main" val="3902664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01465" y="2914387"/>
            <a:ext cx="5996539" cy="1280890"/>
          </a:xfrm>
        </p:spPr>
        <p:txBody>
          <a:bodyPr>
            <a:normAutofit fontScale="90000"/>
          </a:bodyPr>
          <a:lstStyle/>
          <a:p>
            <a:r>
              <a:rPr lang="en-GB" sz="4400" dirty="0" smtClean="0"/>
              <a:t>WHAT </a:t>
            </a:r>
            <a:r>
              <a:rPr lang="en-GB" sz="4400" dirty="0"/>
              <a:t>I</a:t>
            </a:r>
            <a:r>
              <a:rPr lang="en-GB" sz="4400" dirty="0" smtClean="0"/>
              <a:t> </a:t>
            </a:r>
            <a:r>
              <a:rPr lang="en-GB" sz="4400" dirty="0" smtClean="0"/>
              <a:t>BUILT &amp; LEARNED</a:t>
            </a:r>
            <a:endParaRPr lang="en-GB" sz="4400" dirty="0"/>
          </a:p>
        </p:txBody>
      </p:sp>
    </p:spTree>
    <p:extLst>
      <p:ext uri="{BB962C8B-B14F-4D97-AF65-F5344CB8AC3E}">
        <p14:creationId xmlns:p14="http://schemas.microsoft.com/office/powerpoint/2010/main" val="9831999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a:xfrm>
            <a:off x="2079073" y="1989220"/>
            <a:ext cx="8915400" cy="3777622"/>
          </a:xfrm>
        </p:spPr>
        <p:txBody>
          <a:bodyPr>
            <a:noAutofit/>
          </a:bodyPr>
          <a:lstStyle/>
          <a:p>
            <a:r>
              <a:rPr lang="en-GB" sz="2400" b="1" dirty="0" smtClean="0"/>
              <a:t>Educational </a:t>
            </a:r>
            <a:r>
              <a:rPr lang="en-GB" sz="2400" b="1" dirty="0"/>
              <a:t>Operating System </a:t>
            </a:r>
            <a:r>
              <a:rPr lang="en-GB" sz="2400" b="1" dirty="0" smtClean="0"/>
              <a:t>Simulator</a:t>
            </a:r>
            <a:r>
              <a:rPr lang="en-GB" sz="2400" b="1" dirty="0"/>
              <a:t> </a:t>
            </a:r>
            <a:r>
              <a:rPr lang="en-GB" sz="2400" dirty="0" smtClean="0"/>
              <a:t>which is also called </a:t>
            </a:r>
            <a:r>
              <a:rPr lang="en-GB" sz="2400" dirty="0" err="1" smtClean="0"/>
              <a:t>EduOS</a:t>
            </a:r>
            <a:r>
              <a:rPr lang="en-GB" sz="2400" dirty="0" smtClean="0"/>
              <a:t> is built using two different programming languages which are C and Python.</a:t>
            </a:r>
            <a:endParaRPr lang="en-GB" sz="2400" dirty="0" smtClean="0"/>
          </a:p>
          <a:p>
            <a:r>
              <a:rPr lang="en-GB" sz="2400" dirty="0"/>
              <a:t>python is used handle CPU scheduling algorithms and controlling the whole OS simulator.</a:t>
            </a:r>
          </a:p>
          <a:p>
            <a:r>
              <a:rPr lang="en-GB" sz="2400" dirty="0" smtClean="0"/>
              <a:t>C </a:t>
            </a:r>
            <a:r>
              <a:rPr lang="en-GB" sz="2400" dirty="0"/>
              <a:t>programming language is used </a:t>
            </a:r>
            <a:r>
              <a:rPr lang="en-GB" sz="2400" dirty="0" smtClean="0"/>
              <a:t>to </a:t>
            </a:r>
            <a:r>
              <a:rPr lang="en-GB" sz="2400" dirty="0"/>
              <a:t>simulates low-level OS </a:t>
            </a:r>
            <a:r>
              <a:rPr lang="en-GB" sz="2400" dirty="0" smtClean="0"/>
              <a:t>behaviour. </a:t>
            </a:r>
          </a:p>
          <a:p>
            <a:r>
              <a:rPr lang="en-GB" sz="2400" dirty="0" err="1" smtClean="0"/>
              <a:t>EduOS</a:t>
            </a:r>
            <a:r>
              <a:rPr lang="en-GB" sz="2400" dirty="0" smtClean="0"/>
              <a:t> </a:t>
            </a:r>
            <a:r>
              <a:rPr lang="en-GB" sz="2400" dirty="0" smtClean="0"/>
              <a:t>Simulator is divided into parts which are</a:t>
            </a:r>
            <a:r>
              <a:rPr lang="en-GB" sz="2400" dirty="0"/>
              <a:t>;</a:t>
            </a:r>
          </a:p>
        </p:txBody>
      </p:sp>
    </p:spTree>
    <p:extLst>
      <p:ext uri="{BB962C8B-B14F-4D97-AF65-F5344CB8AC3E}">
        <p14:creationId xmlns:p14="http://schemas.microsoft.com/office/powerpoint/2010/main" val="38130193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7303" y="691486"/>
            <a:ext cx="8911687" cy="1280890"/>
          </a:xfrm>
        </p:spPr>
        <p:txBody>
          <a:bodyPr/>
          <a:lstStyle/>
          <a:p>
            <a:r>
              <a:rPr lang="en-GB" dirty="0" smtClean="0"/>
              <a:t>1. C Core Simulation Part</a:t>
            </a:r>
            <a:endParaRPr lang="en-GB" dirty="0"/>
          </a:p>
        </p:txBody>
      </p:sp>
      <p:sp>
        <p:nvSpPr>
          <p:cNvPr id="3" name="Content Placeholder 2"/>
          <p:cNvSpPr>
            <a:spLocks noGrp="1"/>
          </p:cNvSpPr>
          <p:nvPr>
            <p:ph idx="1"/>
          </p:nvPr>
        </p:nvSpPr>
        <p:spPr>
          <a:xfrm>
            <a:off x="1790316" y="1688066"/>
            <a:ext cx="8915400" cy="3777622"/>
          </a:xfrm>
        </p:spPr>
        <p:txBody>
          <a:bodyPr>
            <a:noAutofit/>
          </a:bodyPr>
          <a:lstStyle/>
          <a:p>
            <a:r>
              <a:rPr lang="en-GB" sz="2400" dirty="0" smtClean="0"/>
              <a:t>This </a:t>
            </a:r>
            <a:r>
              <a:rPr lang="en-GB" sz="2400" dirty="0" smtClean="0"/>
              <a:t>contains c </a:t>
            </a:r>
            <a:r>
              <a:rPr lang="en-GB" sz="2400" dirty="0" smtClean="0"/>
              <a:t>programs </a:t>
            </a:r>
            <a:r>
              <a:rPr lang="en-GB" sz="2400" dirty="0" smtClean="0"/>
              <a:t>that</a:t>
            </a:r>
            <a:r>
              <a:rPr lang="en-GB" sz="2400" dirty="0" smtClean="0"/>
              <a:t> </a:t>
            </a:r>
            <a:r>
              <a:rPr lang="en-GB" sz="2400" dirty="0" smtClean="0"/>
              <a:t>are </a:t>
            </a:r>
            <a:r>
              <a:rPr lang="en-GB" sz="2400" dirty="0" smtClean="0"/>
              <a:t>put</a:t>
            </a:r>
            <a:r>
              <a:rPr lang="en-GB" sz="2400" dirty="0" smtClean="0"/>
              <a:t> </a:t>
            </a:r>
            <a:r>
              <a:rPr lang="en-GB" sz="2400" dirty="0" smtClean="0"/>
              <a:t>together inside the file </a:t>
            </a:r>
            <a:r>
              <a:rPr lang="en-GB" sz="2400" dirty="0" smtClean="0"/>
              <a:t>that is called </a:t>
            </a:r>
            <a:r>
              <a:rPr lang="en-GB" sz="2400" dirty="0" err="1" smtClean="0"/>
              <a:t>main_sim</a:t>
            </a:r>
            <a:r>
              <a:rPr lang="en-GB" sz="2400" dirty="0" smtClean="0"/>
              <a:t> and executed together.</a:t>
            </a:r>
            <a:endParaRPr lang="en-GB" sz="2400" dirty="0" smtClean="0"/>
          </a:p>
          <a:p>
            <a:r>
              <a:rPr lang="en-GB" sz="2400" dirty="0" smtClean="0"/>
              <a:t>It contains process management </a:t>
            </a:r>
            <a:r>
              <a:rPr lang="en-GB" sz="2400" dirty="0" smtClean="0"/>
              <a:t>where </a:t>
            </a:r>
            <a:r>
              <a:rPr lang="en-GB" sz="2400" dirty="0"/>
              <a:t>create Process control block (PCB) </a:t>
            </a:r>
            <a:r>
              <a:rPr lang="en-GB" sz="2400" dirty="0" smtClean="0"/>
              <a:t>is created and </a:t>
            </a:r>
            <a:r>
              <a:rPr lang="en-GB" sz="2400" dirty="0"/>
              <a:t>Stores process </a:t>
            </a:r>
            <a:r>
              <a:rPr lang="en-GB" sz="2400" dirty="0" smtClean="0"/>
              <a:t>information </a:t>
            </a:r>
            <a:r>
              <a:rPr lang="en-GB" sz="2400" dirty="0"/>
              <a:t>and also state of the process</a:t>
            </a:r>
            <a:r>
              <a:rPr lang="en-GB" sz="2400" dirty="0" smtClean="0"/>
              <a:t>.</a:t>
            </a:r>
          </a:p>
          <a:p>
            <a:r>
              <a:rPr lang="en-GB" sz="2400" dirty="0" smtClean="0"/>
              <a:t>Thread managements which focuses on which thread must use the CPU first or resolve the problem where two or more thread want to use the same resource at the same time.</a:t>
            </a:r>
          </a:p>
          <a:p>
            <a:pPr marL="0" indent="0">
              <a:buNone/>
            </a:pPr>
            <a:endParaRPr lang="en-GB" sz="2400" dirty="0"/>
          </a:p>
          <a:p>
            <a:endParaRPr lang="en-GB" sz="2400" dirty="0"/>
          </a:p>
        </p:txBody>
      </p:sp>
    </p:spTree>
    <p:extLst>
      <p:ext uri="{BB962C8B-B14F-4D97-AF65-F5344CB8AC3E}">
        <p14:creationId xmlns:p14="http://schemas.microsoft.com/office/powerpoint/2010/main" val="27523754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80313" y="2485360"/>
            <a:ext cx="8911687" cy="1280890"/>
          </a:xfrm>
        </p:spPr>
        <p:txBody>
          <a:bodyPr/>
          <a:lstStyle/>
          <a:p>
            <a:r>
              <a:rPr lang="en-GB" dirty="0" smtClean="0"/>
              <a:t>2. Python Simulation part</a:t>
            </a:r>
            <a:endParaRPr lang="en-GB" dirty="0"/>
          </a:p>
        </p:txBody>
      </p:sp>
      <p:sp>
        <p:nvSpPr>
          <p:cNvPr id="4" name="Content Placeholder 3"/>
          <p:cNvSpPr>
            <a:spLocks noGrp="1"/>
          </p:cNvSpPr>
          <p:nvPr>
            <p:ph idx="1"/>
          </p:nvPr>
        </p:nvSpPr>
        <p:spPr>
          <a:xfrm>
            <a:off x="1790315" y="413704"/>
            <a:ext cx="8915400" cy="1713297"/>
          </a:xfrm>
        </p:spPr>
        <p:txBody>
          <a:bodyPr>
            <a:normAutofit/>
          </a:bodyPr>
          <a:lstStyle/>
          <a:p>
            <a:pPr marL="0" indent="0">
              <a:buNone/>
            </a:pPr>
            <a:endParaRPr lang="en-GB" sz="2400" dirty="0" smtClean="0"/>
          </a:p>
          <a:p>
            <a:r>
              <a:rPr lang="en-GB" sz="2400" dirty="0"/>
              <a:t>Inter-process-communication(IPC) which enable two or more processes to access shared resources either for writing or reading data.</a:t>
            </a:r>
          </a:p>
          <a:p>
            <a:endParaRPr lang="en-GB" sz="2400" dirty="0" smtClean="0"/>
          </a:p>
          <a:p>
            <a:endParaRPr lang="en-GB" sz="2400" dirty="0" smtClean="0"/>
          </a:p>
          <a:p>
            <a:endParaRPr lang="en-GB" sz="2400" dirty="0"/>
          </a:p>
        </p:txBody>
      </p:sp>
      <p:sp>
        <p:nvSpPr>
          <p:cNvPr id="5" name="Content Placeholder 3"/>
          <p:cNvSpPr txBox="1">
            <a:spLocks/>
          </p:cNvSpPr>
          <p:nvPr/>
        </p:nvSpPr>
        <p:spPr>
          <a:xfrm>
            <a:off x="1790315" y="3481939"/>
            <a:ext cx="8915400"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GB" sz="2400" dirty="0" smtClean="0"/>
              <a:t>This is where different algorithms are implemented and later the outputs are represented using </a:t>
            </a:r>
            <a:r>
              <a:rPr lang="en-GB" sz="2400" dirty="0" err="1" smtClean="0"/>
              <a:t>gantt</a:t>
            </a:r>
            <a:r>
              <a:rPr lang="en-GB" sz="2400" dirty="0" smtClean="0"/>
              <a:t> </a:t>
            </a:r>
            <a:r>
              <a:rPr lang="en-GB" sz="2400" dirty="0" smtClean="0"/>
              <a:t>charts</a:t>
            </a:r>
            <a:endParaRPr lang="en-GB" sz="2400" dirty="0" smtClean="0"/>
          </a:p>
          <a:p>
            <a:r>
              <a:rPr lang="en-GB" sz="2400" dirty="0" smtClean="0"/>
              <a:t>Main controller act as a bridge between c and python programs which also bundle both parts together and execute them together</a:t>
            </a:r>
          </a:p>
          <a:p>
            <a:endParaRPr lang="en-GB" sz="2400" dirty="0"/>
          </a:p>
        </p:txBody>
      </p:sp>
    </p:spTree>
    <p:extLst>
      <p:ext uri="{BB962C8B-B14F-4D97-AF65-F5344CB8AC3E}">
        <p14:creationId xmlns:p14="http://schemas.microsoft.com/office/powerpoint/2010/main" val="35307657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0313" y="852710"/>
            <a:ext cx="8911687" cy="1280890"/>
          </a:xfrm>
        </p:spPr>
        <p:txBody>
          <a:bodyPr/>
          <a:lstStyle/>
          <a:p>
            <a:r>
              <a:rPr lang="en-GB" dirty="0" smtClean="0"/>
              <a:t>3. Integrating c and python</a:t>
            </a:r>
            <a:endParaRPr lang="en-GB" dirty="0"/>
          </a:p>
        </p:txBody>
      </p:sp>
      <p:sp>
        <p:nvSpPr>
          <p:cNvPr id="3" name="Content Placeholder 2"/>
          <p:cNvSpPr>
            <a:spLocks noGrp="1"/>
          </p:cNvSpPr>
          <p:nvPr>
            <p:ph idx="1"/>
          </p:nvPr>
        </p:nvSpPr>
        <p:spPr>
          <a:xfrm>
            <a:off x="2117575" y="2133600"/>
            <a:ext cx="8915400" cy="3777622"/>
          </a:xfrm>
        </p:spPr>
        <p:txBody>
          <a:bodyPr>
            <a:normAutofit/>
          </a:bodyPr>
          <a:lstStyle/>
          <a:p>
            <a:r>
              <a:rPr lang="en-GB" sz="2400" dirty="0" smtClean="0"/>
              <a:t>Bundling of C &amp; Python parts</a:t>
            </a:r>
            <a:r>
              <a:rPr lang="en-GB" sz="2400" dirty="0" smtClean="0"/>
              <a:t> is </a:t>
            </a:r>
            <a:r>
              <a:rPr lang="en-GB" sz="2400" dirty="0" smtClean="0"/>
              <a:t>done </a:t>
            </a:r>
            <a:r>
              <a:rPr lang="en-GB" sz="2400" dirty="0" smtClean="0"/>
              <a:t>by </a:t>
            </a:r>
            <a:r>
              <a:rPr lang="en-GB" sz="2400" dirty="0" smtClean="0"/>
              <a:t>the use of </a:t>
            </a:r>
            <a:r>
              <a:rPr lang="en-GB" sz="2400" dirty="0" err="1" smtClean="0"/>
              <a:t>pcb_snapshot.json</a:t>
            </a:r>
            <a:r>
              <a:rPr lang="en-GB" sz="2400" dirty="0" smtClean="0"/>
              <a:t>  which is created inside the c system</a:t>
            </a:r>
            <a:r>
              <a:rPr lang="en-GB" sz="2400" dirty="0" smtClean="0"/>
              <a:t>.</a:t>
            </a:r>
            <a:endParaRPr lang="en-GB" sz="2400" dirty="0" smtClean="0"/>
          </a:p>
          <a:p>
            <a:r>
              <a:rPr lang="en-GB" sz="2400" dirty="0" smtClean="0"/>
              <a:t>Two </a:t>
            </a:r>
            <a:r>
              <a:rPr lang="en-GB" sz="2400" dirty="0" smtClean="0"/>
              <a:t>major parts that are used to build </a:t>
            </a:r>
            <a:r>
              <a:rPr lang="en-GB" sz="2400" dirty="0" err="1" smtClean="0"/>
              <a:t>EduOS</a:t>
            </a:r>
            <a:r>
              <a:rPr lang="en-GB" sz="2400" dirty="0" smtClean="0"/>
              <a:t> are connected together forming one </a:t>
            </a:r>
            <a:r>
              <a:rPr lang="en-GB" sz="2400" dirty="0" smtClean="0"/>
              <a:t>project.</a:t>
            </a:r>
          </a:p>
          <a:p>
            <a:r>
              <a:rPr lang="en-GB" sz="2400" dirty="0"/>
              <a:t>Python scheduler read the data that is inside </a:t>
            </a:r>
            <a:r>
              <a:rPr lang="en-GB" sz="2400" dirty="0" err="1"/>
              <a:t>pcb_snapshot.json</a:t>
            </a:r>
            <a:r>
              <a:rPr lang="en-GB" sz="2400" dirty="0"/>
              <a:t> hence connecting two parts which are python and c parts</a:t>
            </a:r>
            <a:endParaRPr lang="en-GB" sz="2400" dirty="0"/>
          </a:p>
        </p:txBody>
      </p:sp>
    </p:spTree>
    <p:extLst>
      <p:ext uri="{BB962C8B-B14F-4D97-AF65-F5344CB8AC3E}">
        <p14:creationId xmlns:p14="http://schemas.microsoft.com/office/powerpoint/2010/main" val="893135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64049" y="200599"/>
            <a:ext cx="8911687" cy="444294"/>
          </a:xfrm>
        </p:spPr>
        <p:txBody>
          <a:bodyPr>
            <a:normAutofit fontScale="90000"/>
          </a:bodyPr>
          <a:lstStyle/>
          <a:p>
            <a:endParaRPr lang="en-GB" dirty="0"/>
          </a:p>
        </p:txBody>
      </p:sp>
      <p:sp>
        <p:nvSpPr>
          <p:cNvPr id="4" name="Content Placeholder 3"/>
          <p:cNvSpPr>
            <a:spLocks noGrp="1"/>
          </p:cNvSpPr>
          <p:nvPr>
            <p:ph idx="1"/>
          </p:nvPr>
        </p:nvSpPr>
        <p:spPr>
          <a:xfrm>
            <a:off x="2358206" y="1334703"/>
            <a:ext cx="8915400" cy="4972964"/>
          </a:xfrm>
        </p:spPr>
        <p:txBody>
          <a:bodyPr>
            <a:noAutofit/>
          </a:bodyPr>
          <a:lstStyle/>
          <a:p>
            <a:r>
              <a:rPr lang="en-GB" sz="2400" dirty="0"/>
              <a:t>I have learned how a CPU algorithm actually works and how It is used   </a:t>
            </a:r>
            <a:endParaRPr lang="en-GB" sz="2400" dirty="0" smtClean="0"/>
          </a:p>
          <a:p>
            <a:r>
              <a:rPr lang="en-GB" sz="2400" dirty="0" smtClean="0"/>
              <a:t>I </a:t>
            </a:r>
            <a:r>
              <a:rPr lang="en-GB" sz="2400" dirty="0" smtClean="0"/>
              <a:t>have learned how to link local project to </a:t>
            </a:r>
            <a:r>
              <a:rPr lang="en-GB" sz="2400" dirty="0" err="1" smtClean="0"/>
              <a:t>github</a:t>
            </a:r>
            <a:r>
              <a:rPr lang="en-GB" sz="2400" dirty="0" smtClean="0"/>
              <a:t> using commands and terminal and also how to work with </a:t>
            </a:r>
            <a:r>
              <a:rPr lang="en-GB" sz="2400" dirty="0" err="1" smtClean="0"/>
              <a:t>github</a:t>
            </a:r>
            <a:r>
              <a:rPr lang="en-GB" sz="2400" dirty="0" smtClean="0"/>
              <a:t> concerning add and removing files.</a:t>
            </a:r>
          </a:p>
          <a:p>
            <a:r>
              <a:rPr lang="en-GB" sz="2400" dirty="0" smtClean="0"/>
              <a:t>I </a:t>
            </a:r>
            <a:r>
              <a:rPr lang="en-GB" sz="2400" dirty="0"/>
              <a:t>learned that the operating system must store and manage process information before it can schedule or execute </a:t>
            </a:r>
            <a:r>
              <a:rPr lang="en-GB" sz="2400" dirty="0" smtClean="0"/>
              <a:t>anything</a:t>
            </a:r>
            <a:r>
              <a:rPr lang="en-GB" sz="2400" dirty="0"/>
              <a:t> </a:t>
            </a:r>
            <a:r>
              <a:rPr lang="en-GB" sz="2400" dirty="0" smtClean="0"/>
              <a:t>and the importance of Process Control </a:t>
            </a:r>
            <a:r>
              <a:rPr lang="en-GB" sz="2400" dirty="0" smtClean="0"/>
              <a:t>Block</a:t>
            </a:r>
            <a:endParaRPr lang="en-GB" sz="2400" dirty="0" smtClean="0"/>
          </a:p>
          <a:p>
            <a:endParaRPr lang="en-GB" sz="2400" dirty="0"/>
          </a:p>
        </p:txBody>
      </p:sp>
    </p:spTree>
    <p:extLst>
      <p:ext uri="{BB962C8B-B14F-4D97-AF65-F5344CB8AC3E}">
        <p14:creationId xmlns:p14="http://schemas.microsoft.com/office/powerpoint/2010/main" val="30490509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13867" y="2914387"/>
            <a:ext cx="5025873" cy="1280890"/>
          </a:xfrm>
        </p:spPr>
        <p:txBody>
          <a:bodyPr>
            <a:normAutofit/>
          </a:bodyPr>
          <a:lstStyle/>
          <a:p>
            <a:r>
              <a:rPr lang="en-GB" sz="4400" dirty="0" smtClean="0"/>
              <a:t>DESIGN DECISIONS </a:t>
            </a:r>
            <a:endParaRPr lang="en-GB" sz="4400" dirty="0"/>
          </a:p>
        </p:txBody>
      </p:sp>
    </p:spTree>
    <p:extLst>
      <p:ext uri="{BB962C8B-B14F-4D97-AF65-F5344CB8AC3E}">
        <p14:creationId xmlns:p14="http://schemas.microsoft.com/office/powerpoint/2010/main" val="17639779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23427"/>
          </a:xfrm>
        </p:spPr>
        <p:txBody>
          <a:bodyPr>
            <a:normAutofit/>
          </a:bodyPr>
          <a:lstStyle/>
          <a:p>
            <a:endParaRPr lang="en-GB" dirty="0"/>
          </a:p>
        </p:txBody>
      </p:sp>
      <p:sp>
        <p:nvSpPr>
          <p:cNvPr id="3" name="Content Placeholder 2"/>
          <p:cNvSpPr>
            <a:spLocks noGrp="1"/>
          </p:cNvSpPr>
          <p:nvPr>
            <p:ph idx="1"/>
          </p:nvPr>
        </p:nvSpPr>
        <p:spPr>
          <a:xfrm>
            <a:off x="2194576" y="1719715"/>
            <a:ext cx="8915400" cy="3777622"/>
          </a:xfrm>
        </p:spPr>
        <p:txBody>
          <a:bodyPr>
            <a:noAutofit/>
          </a:bodyPr>
          <a:lstStyle/>
          <a:p>
            <a:r>
              <a:rPr lang="en-GB" sz="2400" dirty="0" smtClean="0"/>
              <a:t>Process Control Block (PCB) is </a:t>
            </a:r>
            <a:r>
              <a:rPr lang="en-GB" sz="2400" dirty="0"/>
              <a:t>used </a:t>
            </a:r>
            <a:r>
              <a:rPr lang="en-GB" sz="2400" dirty="0" smtClean="0"/>
              <a:t>to </a:t>
            </a:r>
            <a:r>
              <a:rPr lang="en-GB" sz="2400" dirty="0" smtClean="0"/>
              <a:t>stores </a:t>
            </a:r>
            <a:r>
              <a:rPr lang="en-GB" sz="2400" dirty="0"/>
              <a:t>all information about a </a:t>
            </a:r>
            <a:r>
              <a:rPr lang="en-GB" sz="2400" dirty="0" smtClean="0"/>
              <a:t>process which </a:t>
            </a:r>
            <a:r>
              <a:rPr lang="en-GB" sz="2400" dirty="0" smtClean="0"/>
              <a:t>also help in </a:t>
            </a:r>
            <a:r>
              <a:rPr lang="en-GB" sz="2400" dirty="0"/>
              <a:t>process management </a:t>
            </a:r>
            <a:r>
              <a:rPr lang="en-GB" sz="2400" dirty="0" smtClean="0"/>
              <a:t> and context </a:t>
            </a:r>
            <a:r>
              <a:rPr lang="en-GB" sz="2400" dirty="0" smtClean="0"/>
              <a:t>switching.</a:t>
            </a:r>
          </a:p>
          <a:p>
            <a:r>
              <a:rPr lang="en-GB" sz="2400" dirty="0"/>
              <a:t>POSIX is also </a:t>
            </a:r>
            <a:r>
              <a:rPr lang="en-GB" sz="2400" dirty="0" smtClean="0"/>
              <a:t>mostly used </a:t>
            </a:r>
            <a:r>
              <a:rPr lang="en-GB" sz="2400" dirty="0"/>
              <a:t>for exchanging process metrics and PCB data than message queue which is slower in exchanging processes</a:t>
            </a:r>
            <a:r>
              <a:rPr lang="en-GB" sz="2400" dirty="0" smtClean="0"/>
              <a:t>.</a:t>
            </a:r>
            <a:endParaRPr lang="en-GB" sz="2400" dirty="0" smtClean="0"/>
          </a:p>
          <a:p>
            <a:r>
              <a:rPr lang="en-GB" sz="2400" dirty="0" smtClean="0"/>
              <a:t>POSIX is used </a:t>
            </a:r>
            <a:r>
              <a:rPr lang="en-GB" sz="2400" dirty="0"/>
              <a:t>since allows two processes to access the same memory </a:t>
            </a:r>
            <a:r>
              <a:rPr lang="en-GB" sz="2400" dirty="0" smtClean="0"/>
              <a:t>directly</a:t>
            </a:r>
            <a:r>
              <a:rPr lang="en-GB" sz="2400" dirty="0"/>
              <a:t> hence making it </a:t>
            </a:r>
            <a:r>
              <a:rPr lang="en-GB" sz="2400" dirty="0" smtClean="0"/>
              <a:t>faster </a:t>
            </a:r>
            <a:r>
              <a:rPr lang="en-GB" sz="2400" dirty="0"/>
              <a:t>than message queues </a:t>
            </a:r>
            <a:r>
              <a:rPr lang="en-GB" sz="2400" dirty="0" smtClean="0"/>
              <a:t>since POSIX has no </a:t>
            </a:r>
            <a:r>
              <a:rPr lang="en-GB" sz="2400" dirty="0"/>
              <a:t>repeated data </a:t>
            </a:r>
            <a:r>
              <a:rPr lang="en-GB" sz="2400" dirty="0" smtClean="0"/>
              <a:t>copying</a:t>
            </a:r>
            <a:endParaRPr lang="en-GB" sz="2400" dirty="0" smtClean="0"/>
          </a:p>
        </p:txBody>
      </p:sp>
    </p:spTree>
    <p:extLst>
      <p:ext uri="{BB962C8B-B14F-4D97-AF65-F5344CB8AC3E}">
        <p14:creationId xmlns:p14="http://schemas.microsoft.com/office/powerpoint/2010/main" val="21193022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26373" y="412355"/>
            <a:ext cx="8911687" cy="1280890"/>
          </a:xfrm>
        </p:spPr>
        <p:txBody>
          <a:bodyPr>
            <a:normAutofit/>
          </a:bodyPr>
          <a:lstStyle/>
          <a:p>
            <a:r>
              <a:rPr lang="en-GB" dirty="0" smtClean="0"/>
              <a:t>Design choices with reference to OS theory</a:t>
            </a:r>
            <a:endParaRPr lang="en-GB" dirty="0"/>
          </a:p>
        </p:txBody>
      </p:sp>
      <p:sp>
        <p:nvSpPr>
          <p:cNvPr id="5" name="Content Placeholder 4"/>
          <p:cNvSpPr>
            <a:spLocks noGrp="1"/>
          </p:cNvSpPr>
          <p:nvPr>
            <p:ph idx="1"/>
          </p:nvPr>
        </p:nvSpPr>
        <p:spPr>
          <a:xfrm>
            <a:off x="2059821" y="1799122"/>
            <a:ext cx="9444790" cy="3777622"/>
          </a:xfrm>
        </p:spPr>
        <p:txBody>
          <a:bodyPr>
            <a:noAutofit/>
          </a:bodyPr>
          <a:lstStyle/>
          <a:p>
            <a:pPr>
              <a:buFont typeface="Wingdings 3" charset="2"/>
              <a:buAutoNum type="arabicPeriod"/>
            </a:pPr>
            <a:r>
              <a:rPr lang="en-GB" sz="2000" dirty="0"/>
              <a:t>Using c </a:t>
            </a:r>
            <a:r>
              <a:rPr lang="en-GB" sz="2000" dirty="0" err="1"/>
              <a:t>struct</a:t>
            </a:r>
            <a:r>
              <a:rPr lang="en-GB" sz="2000" dirty="0"/>
              <a:t> which store process information such as PID, Burst time, Arrival time, Process state etc. It provides a fixed and organized memory layout hence updating and accessing process information faster</a:t>
            </a:r>
          </a:p>
          <a:p>
            <a:pPr>
              <a:buAutoNum type="arabicPeriod"/>
            </a:pPr>
            <a:r>
              <a:rPr lang="en-GB" sz="2000" dirty="0" smtClean="0"/>
              <a:t>POSIX </a:t>
            </a:r>
            <a:r>
              <a:rPr lang="en-GB" sz="2000" dirty="0" smtClean="0"/>
              <a:t>shared memory chosen over message queues </a:t>
            </a:r>
            <a:r>
              <a:rPr lang="en-GB" sz="2000" dirty="0"/>
              <a:t>for </a:t>
            </a:r>
            <a:r>
              <a:rPr lang="en-GB" sz="2000" dirty="0" smtClean="0"/>
              <a:t>IPC. This </a:t>
            </a:r>
            <a:r>
              <a:rPr lang="en-GB" sz="2000" dirty="0"/>
              <a:t>is whereby </a:t>
            </a:r>
            <a:r>
              <a:rPr lang="en-GB" sz="2000" dirty="0" smtClean="0"/>
              <a:t>multiple </a:t>
            </a:r>
            <a:r>
              <a:rPr lang="en-GB" sz="2000" dirty="0"/>
              <a:t>processes </a:t>
            </a:r>
            <a:r>
              <a:rPr lang="en-GB" sz="2000" dirty="0" smtClean="0"/>
              <a:t>are able to </a:t>
            </a:r>
            <a:r>
              <a:rPr lang="en-GB" sz="2000" dirty="0"/>
              <a:t>access the same </a:t>
            </a:r>
            <a:r>
              <a:rPr lang="en-GB" sz="2000" dirty="0" smtClean="0"/>
              <a:t>memory </a:t>
            </a:r>
            <a:r>
              <a:rPr lang="en-GB" sz="2000" dirty="0"/>
              <a:t>directly, making </a:t>
            </a:r>
            <a:r>
              <a:rPr lang="en-GB" sz="2000" dirty="0" smtClean="0"/>
              <a:t>communication </a:t>
            </a:r>
            <a:r>
              <a:rPr lang="en-GB" sz="2000" dirty="0"/>
              <a:t>much faster and synchronization </a:t>
            </a:r>
            <a:r>
              <a:rPr lang="en-GB" sz="2000" dirty="0" smtClean="0"/>
              <a:t>is also used.</a:t>
            </a:r>
          </a:p>
          <a:p>
            <a:pPr>
              <a:buAutoNum type="arabicPeriod"/>
            </a:pPr>
            <a:r>
              <a:rPr lang="en-GB" sz="2000" dirty="0"/>
              <a:t>Fixed-Size </a:t>
            </a:r>
            <a:r>
              <a:rPr lang="en-GB" sz="2000" dirty="0" smtClean="0"/>
              <a:t>thread pool </a:t>
            </a:r>
            <a:r>
              <a:rPr lang="en-GB" sz="2000" dirty="0"/>
              <a:t>for </a:t>
            </a:r>
            <a:r>
              <a:rPr lang="en-GB" sz="2000" dirty="0" smtClean="0"/>
              <a:t>concurrency. This </a:t>
            </a:r>
            <a:r>
              <a:rPr lang="en-GB" sz="2000" dirty="0"/>
              <a:t>is when instead of creating a new thread for </a:t>
            </a:r>
            <a:r>
              <a:rPr lang="en-GB" sz="2000" dirty="0" smtClean="0"/>
              <a:t>every task, this </a:t>
            </a:r>
            <a:r>
              <a:rPr lang="en-GB" sz="2000" dirty="0"/>
              <a:t>was implemented. </a:t>
            </a:r>
            <a:r>
              <a:rPr lang="en-GB" sz="2000" dirty="0" smtClean="0"/>
              <a:t>It allows </a:t>
            </a:r>
            <a:r>
              <a:rPr lang="en-GB" sz="2000" dirty="0"/>
              <a:t>worker threads to be created once and reused, improving efficiency</a:t>
            </a:r>
            <a:r>
              <a:rPr lang="en-GB" sz="2000" dirty="0" smtClean="0"/>
              <a:t>.</a:t>
            </a:r>
          </a:p>
          <a:p>
            <a:pPr>
              <a:buFont typeface="Wingdings 3" charset="2"/>
              <a:buAutoNum type="arabicPeriod"/>
            </a:pPr>
            <a:r>
              <a:rPr lang="en-GB" sz="2000" dirty="0"/>
              <a:t>Multiple CPU scheduling algorithms implemented. This is when FCFS, SJF, Priority scheduling, Round Robin and Priority scheduling are used whereby different algorithms are designed to optimize different </a:t>
            </a:r>
            <a:r>
              <a:rPr lang="en-GB" sz="2000" dirty="0" smtClean="0"/>
              <a:t>goals</a:t>
            </a:r>
            <a:endParaRPr lang="en-GB" sz="2000" dirty="0" smtClean="0"/>
          </a:p>
        </p:txBody>
      </p:sp>
      <p:sp>
        <p:nvSpPr>
          <p:cNvPr id="6"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79240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13867" y="2914387"/>
            <a:ext cx="5025873" cy="1280890"/>
          </a:xfrm>
        </p:spPr>
        <p:txBody>
          <a:bodyPr>
            <a:normAutofit fontScale="90000"/>
          </a:bodyPr>
          <a:lstStyle/>
          <a:p>
            <a:pPr algn="ctr"/>
            <a:r>
              <a:rPr lang="en-GB" sz="4400" dirty="0" smtClean="0"/>
              <a:t>SYLLABUS MAPPING TABLE  </a:t>
            </a:r>
            <a:endParaRPr lang="en-GB" sz="4400" dirty="0"/>
          </a:p>
        </p:txBody>
      </p:sp>
    </p:spTree>
    <p:extLst>
      <p:ext uri="{BB962C8B-B14F-4D97-AF65-F5344CB8AC3E}">
        <p14:creationId xmlns:p14="http://schemas.microsoft.com/office/powerpoint/2010/main" val="35283591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5859" y="126999"/>
            <a:ext cx="8911687" cy="440268"/>
          </a:xfrm>
        </p:spPr>
        <p:txBody>
          <a:bodyPr>
            <a:normAutofit fontScale="90000"/>
          </a:bodyPr>
          <a:lstStyle/>
          <a:p>
            <a:pPr algn="ctr"/>
            <a:r>
              <a:rPr lang="en-GB" dirty="0" smtClean="0"/>
              <a:t>SYLLABUS MAPPING TABLE</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19004255"/>
              </p:ext>
            </p:extLst>
          </p:nvPr>
        </p:nvGraphicFramePr>
        <p:xfrm>
          <a:off x="1574799" y="660400"/>
          <a:ext cx="10236200" cy="5517242"/>
        </p:xfrm>
        <a:graphic>
          <a:graphicData uri="http://schemas.openxmlformats.org/drawingml/2006/table">
            <a:tbl>
              <a:tblPr firstRow="1" bandRow="1">
                <a:tableStyleId>{5C22544A-7EE6-4342-B048-85BDC9FD1C3A}</a:tableStyleId>
              </a:tblPr>
              <a:tblGrid>
                <a:gridCol w="3400783">
                  <a:extLst>
                    <a:ext uri="{9D8B030D-6E8A-4147-A177-3AD203B41FA5}">
                      <a16:colId xmlns:a16="http://schemas.microsoft.com/office/drawing/2014/main" val="20000"/>
                    </a:ext>
                  </a:extLst>
                </a:gridCol>
                <a:gridCol w="3399033">
                  <a:extLst>
                    <a:ext uri="{9D8B030D-6E8A-4147-A177-3AD203B41FA5}">
                      <a16:colId xmlns:a16="http://schemas.microsoft.com/office/drawing/2014/main" val="20001"/>
                    </a:ext>
                  </a:extLst>
                </a:gridCol>
                <a:gridCol w="3436384">
                  <a:extLst>
                    <a:ext uri="{9D8B030D-6E8A-4147-A177-3AD203B41FA5}">
                      <a16:colId xmlns:a16="http://schemas.microsoft.com/office/drawing/2014/main" val="20002"/>
                    </a:ext>
                  </a:extLst>
                </a:gridCol>
              </a:tblGrid>
              <a:tr h="389810">
                <a:tc>
                  <a:txBody>
                    <a:bodyPr/>
                    <a:lstStyle/>
                    <a:p>
                      <a:r>
                        <a:rPr lang="en-GB" dirty="0" smtClean="0"/>
                        <a:t>Syllabus Topic</a:t>
                      </a:r>
                      <a:endParaRPr lang="en-GB" dirty="0"/>
                    </a:p>
                  </a:txBody>
                  <a:tcPr/>
                </a:tc>
                <a:tc>
                  <a:txBody>
                    <a:bodyPr/>
                    <a:lstStyle/>
                    <a:p>
                      <a:r>
                        <a:rPr lang="en-GB" dirty="0" smtClean="0"/>
                        <a:t>How </a:t>
                      </a:r>
                      <a:r>
                        <a:rPr lang="en-GB" dirty="0" err="1" smtClean="0"/>
                        <a:t>EduOS</a:t>
                      </a:r>
                      <a:r>
                        <a:rPr lang="en-GB" dirty="0" smtClean="0"/>
                        <a:t> Implements It</a:t>
                      </a:r>
                      <a:endParaRPr lang="en-GB" b="0" dirty="0"/>
                    </a:p>
                  </a:txBody>
                  <a:tcPr/>
                </a:tc>
                <a:tc>
                  <a:txBody>
                    <a:bodyPr/>
                    <a:lstStyle/>
                    <a:p>
                      <a:r>
                        <a:rPr lang="en-GB" dirty="0" smtClean="0"/>
                        <a:t>File / Line Reference</a:t>
                      </a:r>
                      <a:endParaRPr lang="en-GB" dirty="0"/>
                    </a:p>
                  </a:txBody>
                  <a:tcPr/>
                </a:tc>
                <a:extLst>
                  <a:ext uri="{0D108BD9-81ED-4DB2-BD59-A6C34878D82A}">
                    <a16:rowId xmlns:a16="http://schemas.microsoft.com/office/drawing/2014/main" val="10000"/>
                  </a:ext>
                </a:extLst>
              </a:tr>
              <a:tr h="389810">
                <a:tc>
                  <a:txBody>
                    <a:bodyPr/>
                    <a:lstStyle/>
                    <a:p>
                      <a:r>
                        <a:rPr lang="en-GB" dirty="0" smtClean="0"/>
                        <a:t>Process control Block</a:t>
                      </a:r>
                    </a:p>
                  </a:txBody>
                  <a:tcPr/>
                </a:tc>
                <a:tc>
                  <a:txBody>
                    <a:bodyPr/>
                    <a:lstStyle/>
                    <a:p>
                      <a:r>
                        <a:rPr lang="en-GB" dirty="0" smtClean="0"/>
                        <a:t>Using </a:t>
                      </a:r>
                      <a:r>
                        <a:rPr lang="en-GB" dirty="0" smtClean="0"/>
                        <a:t>C </a:t>
                      </a:r>
                      <a:r>
                        <a:rPr lang="en-GB" dirty="0" err="1" smtClean="0"/>
                        <a:t>struct</a:t>
                      </a:r>
                      <a:r>
                        <a:rPr lang="en-GB" dirty="0" smtClean="0"/>
                        <a:t> to store process metadata</a:t>
                      </a:r>
                      <a:endParaRPr lang="en-GB" dirty="0"/>
                    </a:p>
                  </a:txBody>
                  <a:tcPr/>
                </a:tc>
                <a:tc>
                  <a:txBody>
                    <a:bodyPr/>
                    <a:lstStyle/>
                    <a:p>
                      <a:r>
                        <a:rPr lang="en-GB" dirty="0" err="1" smtClean="0"/>
                        <a:t>process_manager.c</a:t>
                      </a:r>
                      <a:r>
                        <a:rPr lang="en-GB" dirty="0" smtClean="0"/>
                        <a:t>, </a:t>
                      </a:r>
                      <a:r>
                        <a:rPr lang="en-GB" dirty="0" err="1" smtClean="0"/>
                        <a:t>eduos.h</a:t>
                      </a:r>
                      <a:endParaRPr lang="en-GB" dirty="0"/>
                    </a:p>
                  </a:txBody>
                  <a:tcPr/>
                </a:tc>
                <a:extLst>
                  <a:ext uri="{0D108BD9-81ED-4DB2-BD59-A6C34878D82A}">
                    <a16:rowId xmlns:a16="http://schemas.microsoft.com/office/drawing/2014/main" val="10001"/>
                  </a:ext>
                </a:extLst>
              </a:tr>
              <a:tr h="68511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smtClean="0"/>
                        <a:t>Process state and management</a:t>
                      </a:r>
                    </a:p>
                  </a:txBody>
                  <a:tcPr/>
                </a:tc>
                <a:tc>
                  <a:txBody>
                    <a:bodyPr/>
                    <a:lstStyle/>
                    <a:p>
                      <a:r>
                        <a:rPr lang="en-GB" dirty="0" smtClean="0"/>
                        <a:t>Tracks process </a:t>
                      </a:r>
                      <a:r>
                        <a:rPr lang="en-GB" dirty="0" smtClean="0"/>
                        <a:t>lifecycle </a:t>
                      </a:r>
                      <a:r>
                        <a:rPr lang="en-GB" dirty="0" smtClean="0"/>
                        <a:t>&amp;</a:t>
                      </a:r>
                      <a:r>
                        <a:rPr lang="en-GB" baseline="0" dirty="0" smtClean="0"/>
                        <a:t> </a:t>
                      </a:r>
                      <a:r>
                        <a:rPr lang="en-GB" dirty="0" smtClean="0"/>
                        <a:t>exports process information to JSON</a:t>
                      </a:r>
                      <a:endParaRPr lang="en-GB" dirty="0"/>
                    </a:p>
                  </a:txBody>
                  <a:tcPr/>
                </a:tc>
                <a:tc>
                  <a:txBody>
                    <a:bodyPr/>
                    <a:lstStyle/>
                    <a:p>
                      <a:r>
                        <a:rPr lang="en-GB" dirty="0" err="1" smtClean="0"/>
                        <a:t>process_manager.c</a:t>
                      </a:r>
                      <a:endParaRPr lang="en-GB" dirty="0"/>
                    </a:p>
                  </a:txBody>
                  <a:tcPr/>
                </a:tc>
                <a:extLst>
                  <a:ext uri="{0D108BD9-81ED-4DB2-BD59-A6C34878D82A}">
                    <a16:rowId xmlns:a16="http://schemas.microsoft.com/office/drawing/2014/main" val="10002"/>
                  </a:ext>
                </a:extLst>
              </a:tr>
              <a:tr h="67282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smtClean="0"/>
                        <a:t>Scheduling algorithms</a:t>
                      </a:r>
                    </a:p>
                    <a:p>
                      <a:endParaRPr lang="en-GB" dirty="0"/>
                    </a:p>
                  </a:txBody>
                  <a:tcPr/>
                </a:tc>
                <a:tc>
                  <a:txBody>
                    <a:bodyPr/>
                    <a:lstStyle/>
                    <a:p>
                      <a:r>
                        <a:rPr lang="en-GB" dirty="0" smtClean="0"/>
                        <a:t>Show</a:t>
                      </a:r>
                      <a:r>
                        <a:rPr lang="en-GB" baseline="0" dirty="0" smtClean="0"/>
                        <a:t> </a:t>
                      </a:r>
                      <a:r>
                        <a:rPr lang="en-GB" dirty="0" smtClean="0"/>
                        <a:t>process </a:t>
                      </a:r>
                      <a:r>
                        <a:rPr lang="en-GB" dirty="0" smtClean="0"/>
                        <a:t>scheduling using multiple algorithms</a:t>
                      </a:r>
                      <a:endParaRPr lang="en-GB" dirty="0"/>
                    </a:p>
                  </a:txBody>
                  <a:tcPr/>
                </a:tc>
                <a:tc>
                  <a:txBody>
                    <a:bodyPr/>
                    <a:lstStyle/>
                    <a:p>
                      <a:r>
                        <a:rPr lang="en-GB" dirty="0" smtClean="0"/>
                        <a:t>scheduler_sim.py</a:t>
                      </a:r>
                      <a:endParaRPr lang="en-GB" dirty="0"/>
                    </a:p>
                  </a:txBody>
                  <a:tcPr/>
                </a:tc>
                <a:extLst>
                  <a:ext uri="{0D108BD9-81ED-4DB2-BD59-A6C34878D82A}">
                    <a16:rowId xmlns:a16="http://schemas.microsoft.com/office/drawing/2014/main" val="10003"/>
                  </a:ext>
                </a:extLst>
              </a:tr>
              <a:tr h="67282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smtClean="0"/>
                        <a:t>Inter-process communication </a:t>
                      </a:r>
                    </a:p>
                  </a:txBody>
                  <a:tcPr/>
                </a:tc>
                <a:tc>
                  <a:txBody>
                    <a:bodyPr/>
                    <a:lstStyle/>
                    <a:p>
                      <a:r>
                        <a:rPr lang="en-GB" dirty="0" smtClean="0"/>
                        <a:t>communication </a:t>
                      </a:r>
                      <a:r>
                        <a:rPr lang="en-GB" dirty="0" smtClean="0"/>
                        <a:t>between </a:t>
                      </a:r>
                      <a:r>
                        <a:rPr lang="en-GB" dirty="0" smtClean="0"/>
                        <a:t>different</a:t>
                      </a:r>
                      <a:r>
                        <a:rPr lang="en-GB" baseline="0" dirty="0" smtClean="0"/>
                        <a:t> </a:t>
                      </a:r>
                      <a:r>
                        <a:rPr lang="en-GB" dirty="0" smtClean="0"/>
                        <a:t>processes</a:t>
                      </a:r>
                      <a:endParaRPr lang="en-GB" dirty="0"/>
                    </a:p>
                  </a:txBody>
                  <a:tcPr/>
                </a:tc>
                <a:tc>
                  <a:txBody>
                    <a:bodyPr/>
                    <a:lstStyle/>
                    <a:p>
                      <a:r>
                        <a:rPr lang="en-GB" dirty="0" err="1" smtClean="0"/>
                        <a:t>ipc_module.c</a:t>
                      </a:r>
                      <a:endParaRPr lang="en-GB" dirty="0"/>
                    </a:p>
                  </a:txBody>
                  <a:tcPr/>
                </a:tc>
                <a:extLst>
                  <a:ext uri="{0D108BD9-81ED-4DB2-BD59-A6C34878D82A}">
                    <a16:rowId xmlns:a16="http://schemas.microsoft.com/office/drawing/2014/main" val="10004"/>
                  </a:ext>
                </a:extLst>
              </a:tr>
              <a:tr h="57628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smtClean="0"/>
                        <a:t>Multithreading basics</a:t>
                      </a:r>
                    </a:p>
                  </a:txBody>
                  <a:tcPr/>
                </a:tc>
                <a:tc>
                  <a:txBody>
                    <a:bodyPr/>
                    <a:lstStyle/>
                    <a:p>
                      <a:r>
                        <a:rPr lang="en-GB" dirty="0" smtClean="0"/>
                        <a:t>Creates and manages POSIX threads</a:t>
                      </a:r>
                      <a:endParaRPr lang="en-GB" dirty="0"/>
                    </a:p>
                  </a:txBody>
                  <a:tcPr/>
                </a:tc>
                <a:tc>
                  <a:txBody>
                    <a:bodyPr/>
                    <a:lstStyle/>
                    <a:p>
                      <a:r>
                        <a:rPr lang="en-GB" dirty="0" err="1" smtClean="0"/>
                        <a:t>C_core</a:t>
                      </a:r>
                      <a:r>
                        <a:rPr lang="en-GB" dirty="0" smtClean="0"/>
                        <a:t>/</a:t>
                      </a:r>
                      <a:r>
                        <a:rPr lang="en-GB" dirty="0" err="1" smtClean="0"/>
                        <a:t>thread_manager.c</a:t>
                      </a:r>
                      <a:endParaRPr lang="en-GB" dirty="0"/>
                    </a:p>
                  </a:txBody>
                  <a:tcPr/>
                </a:tc>
                <a:extLst>
                  <a:ext uri="{0D108BD9-81ED-4DB2-BD59-A6C34878D82A}">
                    <a16:rowId xmlns:a16="http://schemas.microsoft.com/office/drawing/2014/main" val="10005"/>
                  </a:ext>
                </a:extLst>
              </a:tr>
              <a:tr h="67282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smtClean="0"/>
                        <a:t>Thread creation and libraries</a:t>
                      </a:r>
                    </a:p>
                  </a:txBody>
                  <a:tcPr/>
                </a:tc>
                <a:tc>
                  <a:txBody>
                    <a:bodyPr/>
                    <a:lstStyle/>
                    <a:p>
                      <a:r>
                        <a:rPr lang="en-GB" dirty="0" smtClean="0"/>
                        <a:t>Uses </a:t>
                      </a:r>
                      <a:r>
                        <a:rPr lang="en-GB" dirty="0" err="1" smtClean="0"/>
                        <a:t>pthread_create</a:t>
                      </a:r>
                      <a:r>
                        <a:rPr lang="en-GB" dirty="0" smtClean="0"/>
                        <a:t>() to run concurrent tasks</a:t>
                      </a:r>
                      <a:endParaRPr lang="en-GB" dirty="0"/>
                    </a:p>
                  </a:txBody>
                  <a:tcPr/>
                </a:tc>
                <a:tc>
                  <a:txBody>
                    <a:bodyPr/>
                    <a:lstStyle/>
                    <a:p>
                      <a:r>
                        <a:rPr lang="en-GB" dirty="0" err="1" smtClean="0"/>
                        <a:t>C_core</a:t>
                      </a:r>
                      <a:r>
                        <a:rPr lang="en-GB" dirty="0" smtClean="0"/>
                        <a:t>/</a:t>
                      </a:r>
                      <a:r>
                        <a:rPr lang="en-GB" dirty="0" err="1" smtClean="0"/>
                        <a:t>thread_manager.c</a:t>
                      </a:r>
                      <a:endParaRPr lang="en-GB" dirty="0"/>
                    </a:p>
                  </a:txBody>
                  <a:tcPr/>
                </a:tc>
                <a:extLst>
                  <a:ext uri="{0D108BD9-81ED-4DB2-BD59-A6C34878D82A}">
                    <a16:rowId xmlns:a16="http://schemas.microsoft.com/office/drawing/2014/main" val="10006"/>
                  </a:ext>
                </a:extLst>
              </a:tr>
              <a:tr h="67282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smtClean="0"/>
                        <a:t>Race and fixed condition</a:t>
                      </a:r>
                    </a:p>
                    <a:p>
                      <a:endParaRPr lang="en-GB" dirty="0" smtClean="0"/>
                    </a:p>
                  </a:txBody>
                  <a:tcPr/>
                </a:tc>
                <a:tc>
                  <a:txBody>
                    <a:bodyPr/>
                    <a:lstStyle/>
                    <a:p>
                      <a:r>
                        <a:rPr lang="en-GB" dirty="0" smtClean="0"/>
                        <a:t>Shows</a:t>
                      </a:r>
                      <a:r>
                        <a:rPr lang="en-GB" baseline="0" dirty="0" smtClean="0"/>
                        <a:t> safe/</a:t>
                      </a:r>
                      <a:r>
                        <a:rPr lang="en-GB" dirty="0" smtClean="0"/>
                        <a:t>unsafe shared counter updates with</a:t>
                      </a:r>
                      <a:r>
                        <a:rPr lang="en-GB" baseline="0" dirty="0" smtClean="0"/>
                        <a:t> and without</a:t>
                      </a:r>
                      <a:r>
                        <a:rPr lang="en-GB" dirty="0" smtClean="0"/>
                        <a:t> synchronization</a:t>
                      </a:r>
                      <a:endParaRPr lang="en-GB" dirty="0"/>
                    </a:p>
                  </a:txBody>
                  <a:tcPr/>
                </a:tc>
                <a:tc>
                  <a:txBody>
                    <a:bodyPr/>
                    <a:lstStyle/>
                    <a:p>
                      <a:r>
                        <a:rPr lang="en-GB" dirty="0" err="1" smtClean="0"/>
                        <a:t>C_core</a:t>
                      </a:r>
                      <a:r>
                        <a:rPr lang="en-GB" dirty="0" smtClean="0"/>
                        <a:t>/</a:t>
                      </a:r>
                      <a:r>
                        <a:rPr lang="en-GB" dirty="0" err="1" smtClean="0"/>
                        <a:t>thread_manager_race.c</a:t>
                      </a:r>
                      <a:r>
                        <a:rPr lang="en-GB" dirty="0" smtClean="0"/>
                        <a:t> &amp; </a:t>
                      </a:r>
                      <a:r>
                        <a:rPr lang="en-GB" dirty="0" err="1" smtClean="0"/>
                        <a:t>thread_manager_fixed.c</a:t>
                      </a:r>
                      <a:endParaRPr lang="en-GB"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355073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13867" y="2914387"/>
            <a:ext cx="5025873" cy="1280890"/>
          </a:xfrm>
        </p:spPr>
        <p:txBody>
          <a:bodyPr>
            <a:normAutofit fontScale="90000"/>
          </a:bodyPr>
          <a:lstStyle/>
          <a:p>
            <a:pPr algn="ctr"/>
            <a:r>
              <a:rPr lang="en-GB" sz="4400" dirty="0" smtClean="0"/>
              <a:t>SCHEDULING RESULTS &amp; ANALYSIS</a:t>
            </a:r>
            <a:endParaRPr lang="en-GB" sz="4400" dirty="0"/>
          </a:p>
        </p:txBody>
      </p:sp>
    </p:spTree>
    <p:extLst>
      <p:ext uri="{BB962C8B-B14F-4D97-AF65-F5344CB8AC3E}">
        <p14:creationId xmlns:p14="http://schemas.microsoft.com/office/powerpoint/2010/main" val="6277427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92924" y="280121"/>
            <a:ext cx="8911687" cy="778792"/>
          </a:xfrm>
        </p:spPr>
        <p:txBody>
          <a:bodyPr>
            <a:normAutofit/>
          </a:bodyPr>
          <a:lstStyle/>
          <a:p>
            <a:r>
              <a:rPr lang="en-GB" dirty="0" smtClean="0"/>
              <a:t>FCFS &amp; SJF Result and Analysis</a:t>
            </a:r>
            <a:endParaRPr lang="en-GB" dirty="0"/>
          </a:p>
        </p:txBody>
      </p:sp>
      <p:sp>
        <p:nvSpPr>
          <p:cNvPr id="4" name="Text Placeholder 3"/>
          <p:cNvSpPr>
            <a:spLocks noGrp="1"/>
          </p:cNvSpPr>
          <p:nvPr>
            <p:ph type="body" idx="1"/>
          </p:nvPr>
        </p:nvSpPr>
        <p:spPr>
          <a:xfrm>
            <a:off x="2657184" y="1146701"/>
            <a:ext cx="3992732" cy="597069"/>
          </a:xfrm>
        </p:spPr>
        <p:txBody>
          <a:bodyPr/>
          <a:lstStyle/>
          <a:p>
            <a:r>
              <a:rPr lang="en-GB" dirty="0" smtClean="0"/>
              <a:t>FCFS results and analysis</a:t>
            </a:r>
            <a:endParaRPr lang="en-GB" dirty="0"/>
          </a:p>
        </p:txBody>
      </p:sp>
      <p:pic>
        <p:nvPicPr>
          <p:cNvPr id="8" name="Content Placeholder 7"/>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306516" y="1741670"/>
            <a:ext cx="4343400" cy="868680"/>
          </a:xfrm>
        </p:spPr>
      </p:pic>
      <p:sp>
        <p:nvSpPr>
          <p:cNvPr id="6" name="Text Placeholder 5"/>
          <p:cNvSpPr>
            <a:spLocks noGrp="1"/>
          </p:cNvSpPr>
          <p:nvPr>
            <p:ph type="body" sz="quarter" idx="3"/>
          </p:nvPr>
        </p:nvSpPr>
        <p:spPr>
          <a:xfrm>
            <a:off x="7404582" y="1187267"/>
            <a:ext cx="3999001" cy="576262"/>
          </a:xfrm>
        </p:spPr>
        <p:txBody>
          <a:bodyPr/>
          <a:lstStyle/>
          <a:p>
            <a:r>
              <a:rPr lang="en-GB" dirty="0" smtClean="0"/>
              <a:t>SJF results and analysis</a:t>
            </a:r>
            <a:endParaRPr lang="en-GB" dirty="0"/>
          </a:p>
        </p:txBody>
      </p:sp>
      <p:sp>
        <p:nvSpPr>
          <p:cNvPr id="7" name="Content Placeholder 6"/>
          <p:cNvSpPr>
            <a:spLocks noGrp="1"/>
          </p:cNvSpPr>
          <p:nvPr>
            <p:ph sz="quarter" idx="4"/>
          </p:nvPr>
        </p:nvSpPr>
        <p:spPr>
          <a:xfrm>
            <a:off x="2277533" y="2696188"/>
            <a:ext cx="4718325" cy="4060212"/>
          </a:xfrm>
        </p:spPr>
        <p:txBody>
          <a:bodyPr>
            <a:normAutofit/>
          </a:bodyPr>
          <a:lstStyle/>
          <a:p>
            <a:r>
              <a:rPr lang="en-GB" dirty="0" smtClean="0"/>
              <a:t>First process </a:t>
            </a:r>
            <a:r>
              <a:rPr lang="en-GB" dirty="0" smtClean="0"/>
              <a:t>present in</a:t>
            </a:r>
            <a:r>
              <a:rPr lang="en-GB" dirty="0" smtClean="0"/>
              <a:t> </a:t>
            </a:r>
            <a:r>
              <a:rPr lang="en-GB" dirty="0" smtClean="0"/>
              <a:t>the CPU </a:t>
            </a:r>
            <a:r>
              <a:rPr lang="en-GB" dirty="0" smtClean="0"/>
              <a:t>execute first.</a:t>
            </a:r>
            <a:endParaRPr lang="en-GB" dirty="0" smtClean="0"/>
          </a:p>
          <a:p>
            <a:r>
              <a:rPr lang="en-GB" dirty="0" smtClean="0"/>
              <a:t>Processes are</a:t>
            </a:r>
            <a:r>
              <a:rPr lang="en-GB" dirty="0" smtClean="0"/>
              <a:t> queued waiting </a:t>
            </a:r>
            <a:r>
              <a:rPr lang="en-GB" dirty="0" smtClean="0"/>
              <a:t>o </a:t>
            </a:r>
            <a:r>
              <a:rPr lang="en-GB" dirty="0" smtClean="0"/>
              <a:t>executed </a:t>
            </a:r>
            <a:r>
              <a:rPr lang="en-GB" dirty="0" smtClean="0"/>
              <a:t>one by </a:t>
            </a:r>
            <a:r>
              <a:rPr lang="en-GB" dirty="0" smtClean="0"/>
              <a:t>one.</a:t>
            </a:r>
            <a:endParaRPr lang="en-GB" dirty="0" smtClean="0"/>
          </a:p>
          <a:p>
            <a:r>
              <a:rPr lang="en-GB" dirty="0" smtClean="0"/>
              <a:t>P1, P2, P3, P4 and P5 are process that are executed in order depending on first come first serve criteria</a:t>
            </a:r>
          </a:p>
          <a:p>
            <a:r>
              <a:rPr lang="en-GB" dirty="0" smtClean="0"/>
              <a:t>It has highest waiting </a:t>
            </a:r>
            <a:r>
              <a:rPr lang="en-GB" dirty="0"/>
              <a:t>time of </a:t>
            </a:r>
            <a:r>
              <a:rPr lang="en-GB" dirty="0" smtClean="0"/>
              <a:t>6.50 since processes wait for each other</a:t>
            </a:r>
            <a:endParaRPr lang="en-GB" dirty="0"/>
          </a:p>
        </p:txBody>
      </p:sp>
      <p:sp>
        <p:nvSpPr>
          <p:cNvPr id="9" name="Content Placeholder 6"/>
          <p:cNvSpPr txBox="1">
            <a:spLocks/>
          </p:cNvSpPr>
          <p:nvPr/>
        </p:nvSpPr>
        <p:spPr>
          <a:xfrm>
            <a:off x="7319356" y="2698138"/>
            <a:ext cx="4492949" cy="335406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GB"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5359" y="1779441"/>
            <a:ext cx="4168224" cy="830909"/>
          </a:xfrm>
          <a:prstGeom prst="rect">
            <a:avLst/>
          </a:prstGeom>
        </p:spPr>
      </p:pic>
      <p:sp>
        <p:nvSpPr>
          <p:cNvPr id="11" name="Content Placeholder 6"/>
          <p:cNvSpPr txBox="1">
            <a:spLocks/>
          </p:cNvSpPr>
          <p:nvPr/>
        </p:nvSpPr>
        <p:spPr>
          <a:xfrm>
            <a:off x="7115608" y="2785926"/>
            <a:ext cx="4576948" cy="335406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GB" dirty="0" smtClean="0"/>
          </a:p>
          <a:p>
            <a:r>
              <a:rPr lang="en-GB" dirty="0" smtClean="0"/>
              <a:t>This is where processes given to CPU to execute, are executed in order depending on how short these processes are.</a:t>
            </a:r>
          </a:p>
          <a:p>
            <a:r>
              <a:rPr lang="en-GB" dirty="0" smtClean="0"/>
              <a:t>Processes that take less time execute first before others</a:t>
            </a:r>
          </a:p>
          <a:p>
            <a:r>
              <a:rPr lang="en-GB" dirty="0" smtClean="0"/>
              <a:t>It has lowest </a:t>
            </a:r>
            <a:r>
              <a:rPr lang="en-GB" dirty="0"/>
              <a:t>waiting time of 4.25</a:t>
            </a:r>
          </a:p>
        </p:txBody>
      </p:sp>
    </p:spTree>
    <p:extLst>
      <p:ext uri="{BB962C8B-B14F-4D97-AF65-F5344CB8AC3E}">
        <p14:creationId xmlns:p14="http://schemas.microsoft.com/office/powerpoint/2010/main" val="9611409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4" y="624110"/>
            <a:ext cx="8911687" cy="595090"/>
          </a:xfrm>
        </p:spPr>
        <p:txBody>
          <a:bodyPr>
            <a:normAutofit fontScale="90000"/>
          </a:bodyPr>
          <a:lstStyle/>
          <a:p>
            <a:r>
              <a:rPr lang="en-GB" dirty="0" smtClean="0"/>
              <a:t>RR &amp; Priority Results and Analysis</a:t>
            </a:r>
            <a:endParaRPr lang="en-GB" dirty="0"/>
          </a:p>
        </p:txBody>
      </p:sp>
      <p:sp>
        <p:nvSpPr>
          <p:cNvPr id="3" name="Text Placeholder 2"/>
          <p:cNvSpPr>
            <a:spLocks noGrp="1"/>
          </p:cNvSpPr>
          <p:nvPr>
            <p:ph type="body" idx="1"/>
          </p:nvPr>
        </p:nvSpPr>
        <p:spPr>
          <a:xfrm>
            <a:off x="2448859" y="1306206"/>
            <a:ext cx="3992732" cy="576262"/>
          </a:xfrm>
        </p:spPr>
        <p:txBody>
          <a:bodyPr/>
          <a:lstStyle/>
          <a:p>
            <a:r>
              <a:rPr lang="en-GB" dirty="0" smtClean="0"/>
              <a:t>RR results and analysis</a:t>
            </a:r>
            <a:endParaRPr lang="en-GB" dirty="0"/>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448859" y="1882468"/>
            <a:ext cx="4343400" cy="868680"/>
          </a:xfrm>
        </p:spPr>
      </p:pic>
      <p:sp>
        <p:nvSpPr>
          <p:cNvPr id="5" name="Text Placeholder 4"/>
          <p:cNvSpPr>
            <a:spLocks noGrp="1"/>
          </p:cNvSpPr>
          <p:nvPr>
            <p:ph type="body" sz="quarter" idx="3"/>
          </p:nvPr>
        </p:nvSpPr>
        <p:spPr>
          <a:xfrm>
            <a:off x="7379977" y="1306206"/>
            <a:ext cx="3999001" cy="576262"/>
          </a:xfrm>
        </p:spPr>
        <p:txBody>
          <a:bodyPr/>
          <a:lstStyle/>
          <a:p>
            <a:r>
              <a:rPr lang="en-GB" dirty="0" smtClean="0"/>
              <a:t>Priority results &amp; analysis</a:t>
            </a:r>
            <a:endParaRPr lang="en-GB" dirty="0"/>
          </a:p>
        </p:txBody>
      </p:sp>
      <p:sp>
        <p:nvSpPr>
          <p:cNvPr id="6" name="Content Placeholder 5"/>
          <p:cNvSpPr>
            <a:spLocks noGrp="1"/>
          </p:cNvSpPr>
          <p:nvPr>
            <p:ph sz="quarter" idx="4"/>
          </p:nvPr>
        </p:nvSpPr>
        <p:spPr>
          <a:xfrm>
            <a:off x="7048767" y="2751148"/>
            <a:ext cx="4669100" cy="3354060"/>
          </a:xfrm>
        </p:spPr>
        <p:txBody>
          <a:bodyPr>
            <a:normAutofit/>
          </a:bodyPr>
          <a:lstStyle/>
          <a:p>
            <a:r>
              <a:rPr lang="en-GB" dirty="0"/>
              <a:t>Processes </a:t>
            </a:r>
            <a:r>
              <a:rPr lang="en-GB" dirty="0" smtClean="0"/>
              <a:t>that has </a:t>
            </a:r>
            <a:r>
              <a:rPr lang="en-GB" dirty="0"/>
              <a:t>higher priority </a:t>
            </a:r>
            <a:r>
              <a:rPr lang="en-GB" dirty="0" smtClean="0"/>
              <a:t>are the ones which CPU execute first before other, </a:t>
            </a:r>
            <a:r>
              <a:rPr lang="en-GB" dirty="0"/>
              <a:t>even if they are longer</a:t>
            </a:r>
            <a:r>
              <a:rPr lang="en-GB" dirty="0" smtClean="0"/>
              <a:t>.</a:t>
            </a:r>
          </a:p>
          <a:p>
            <a:r>
              <a:rPr lang="en-GB" dirty="0"/>
              <a:t>This improves urgent task responsiveness but may increase average waiting time for others</a:t>
            </a:r>
            <a:r>
              <a:rPr lang="en-GB" dirty="0" smtClean="0"/>
              <a:t>.</a:t>
            </a:r>
          </a:p>
          <a:p>
            <a:r>
              <a:rPr lang="en-GB" dirty="0"/>
              <a:t>Priority scheduling performed better than FCFS but not always better than </a:t>
            </a:r>
            <a:r>
              <a:rPr lang="en-GB" dirty="0" smtClean="0"/>
              <a:t>SJF</a:t>
            </a:r>
            <a:r>
              <a:rPr lang="en-GB" dirty="0"/>
              <a:t> </a:t>
            </a:r>
            <a:r>
              <a:rPr lang="en-GB" dirty="0" smtClean="0"/>
              <a:t>and It has average waiting time of 5</a:t>
            </a:r>
            <a:endParaRPr lang="en-GB" dirty="0"/>
          </a:p>
        </p:txBody>
      </p:sp>
      <p:sp>
        <p:nvSpPr>
          <p:cNvPr id="8" name="Content Placeholder 6"/>
          <p:cNvSpPr txBox="1">
            <a:spLocks/>
          </p:cNvSpPr>
          <p:nvPr/>
        </p:nvSpPr>
        <p:spPr>
          <a:xfrm>
            <a:off x="2459447" y="2751148"/>
            <a:ext cx="4508620" cy="3354060"/>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GB" dirty="0" smtClean="0"/>
              <a:t>This is where processes given to the CPU are given a fixed unit of time where each process can use for execution before moving to the next process</a:t>
            </a:r>
          </a:p>
          <a:p>
            <a:r>
              <a:rPr lang="en-GB" dirty="0" smtClean="0"/>
              <a:t>All process are give 2 unit of time to execute and next process start execute even if the running process has not completed executing </a:t>
            </a:r>
          </a:p>
          <a:p>
            <a:r>
              <a:rPr lang="en-GB" dirty="0" smtClean="0"/>
              <a:t>The have higher waiting time which is lower comparing to FCFS </a:t>
            </a:r>
            <a:r>
              <a:rPr lang="en-GB" dirty="0" err="1" smtClean="0"/>
              <a:t>wt</a:t>
            </a:r>
            <a:endParaRPr lang="en-GB"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2971" y="1876875"/>
            <a:ext cx="4250266" cy="812812"/>
          </a:xfrm>
          <a:prstGeom prst="rect">
            <a:avLst/>
          </a:prstGeom>
        </p:spPr>
      </p:pic>
    </p:spTree>
    <p:extLst>
      <p:ext uri="{BB962C8B-B14F-4D97-AF65-F5344CB8AC3E}">
        <p14:creationId xmlns:p14="http://schemas.microsoft.com/office/powerpoint/2010/main" val="39935438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675467" y="2914387"/>
            <a:ext cx="7713133" cy="1280890"/>
          </a:xfrm>
        </p:spPr>
        <p:txBody>
          <a:bodyPr>
            <a:normAutofit fontScale="90000"/>
          </a:bodyPr>
          <a:lstStyle/>
          <a:p>
            <a:pPr algn="ctr"/>
            <a:r>
              <a:rPr lang="en-GB" sz="4400" dirty="0" smtClean="0"/>
              <a:t>ALGO WITH LOWEST WT, WHY &amp; </a:t>
            </a:r>
            <a:r>
              <a:rPr lang="en-GB" sz="4000" dirty="0" smtClean="0"/>
              <a:t>WHEN WOULD A DIFFERENT ALGO WIN</a:t>
            </a:r>
            <a:endParaRPr lang="en-GB" sz="4400" dirty="0"/>
          </a:p>
        </p:txBody>
      </p:sp>
    </p:spTree>
    <p:extLst>
      <p:ext uri="{BB962C8B-B14F-4D97-AF65-F5344CB8AC3E}">
        <p14:creationId xmlns:p14="http://schemas.microsoft.com/office/powerpoint/2010/main" val="33185467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592925" y="524933"/>
            <a:ext cx="8911687" cy="922867"/>
          </a:xfrm>
        </p:spPr>
        <p:txBody>
          <a:bodyPr/>
          <a:lstStyle/>
          <a:p>
            <a:endParaRPr lang="en-GB" dirty="0"/>
          </a:p>
        </p:txBody>
      </p:sp>
      <p:sp>
        <p:nvSpPr>
          <p:cNvPr id="8" name="Content Placeholder 7"/>
          <p:cNvSpPr>
            <a:spLocks noGrp="1"/>
          </p:cNvSpPr>
          <p:nvPr>
            <p:ph idx="1"/>
          </p:nvPr>
        </p:nvSpPr>
        <p:spPr>
          <a:xfrm>
            <a:off x="2326745" y="1574800"/>
            <a:ext cx="8915400" cy="4463422"/>
          </a:xfrm>
        </p:spPr>
        <p:txBody>
          <a:bodyPr>
            <a:normAutofit/>
          </a:bodyPr>
          <a:lstStyle/>
          <a:p>
            <a:r>
              <a:rPr lang="en-GB" sz="2000" dirty="0" smtClean="0"/>
              <a:t>Short job first algorithm (SJF) is the one that has the lowest waiting time since processes that takes less time to execute are executed first before the other on the same given dataset.</a:t>
            </a:r>
          </a:p>
          <a:p>
            <a:r>
              <a:rPr lang="en-GB" sz="2000" dirty="0" smtClean="0"/>
              <a:t>Priority </a:t>
            </a:r>
            <a:r>
              <a:rPr lang="en-GB" sz="2000" dirty="0"/>
              <a:t>Scheduling would win </a:t>
            </a:r>
            <a:r>
              <a:rPr lang="en-GB" sz="2000" dirty="0" smtClean="0"/>
              <a:t>when urgent </a:t>
            </a:r>
            <a:r>
              <a:rPr lang="en-GB" sz="2000" dirty="0"/>
              <a:t>tasks must run </a:t>
            </a:r>
            <a:r>
              <a:rPr lang="en-GB" sz="2000" dirty="0" smtClean="0"/>
              <a:t>first, real-time </a:t>
            </a:r>
            <a:r>
              <a:rPr lang="en-GB" sz="2000" dirty="0"/>
              <a:t>or critical processes </a:t>
            </a:r>
            <a:r>
              <a:rPr lang="en-GB" sz="2000" dirty="0" smtClean="0"/>
              <a:t>exist for example operating system interrupts can always execute first since it has higher priority.</a:t>
            </a:r>
          </a:p>
          <a:p>
            <a:r>
              <a:rPr lang="en-GB" sz="2000" dirty="0"/>
              <a:t>Round Robin would win </a:t>
            </a:r>
            <a:r>
              <a:rPr lang="en-GB" sz="2000" dirty="0" smtClean="0"/>
              <a:t>when system </a:t>
            </a:r>
            <a:r>
              <a:rPr lang="en-GB" sz="2000" dirty="0"/>
              <a:t>is </a:t>
            </a:r>
            <a:r>
              <a:rPr lang="en-GB" sz="2000" dirty="0" smtClean="0"/>
              <a:t>more interactive, users </a:t>
            </a:r>
            <a:r>
              <a:rPr lang="en-GB" sz="2000" dirty="0"/>
              <a:t>need quick response </a:t>
            </a:r>
            <a:r>
              <a:rPr lang="en-GB" sz="2000" dirty="0" smtClean="0"/>
              <a:t>time, fairness matters more than minimum waiting time </a:t>
            </a:r>
            <a:r>
              <a:rPr lang="en-GB" sz="2000" dirty="0"/>
              <a:t>for example desktop operating </a:t>
            </a:r>
            <a:r>
              <a:rPr lang="en-GB" sz="2000" dirty="0" smtClean="0"/>
              <a:t>systems</a:t>
            </a:r>
          </a:p>
          <a:p>
            <a:r>
              <a:rPr lang="en-GB" sz="2000" dirty="0"/>
              <a:t>FCFS would win when simplicity is important, all burst times of the processes are similar and when scheduling overhead is supposed to be minimal</a:t>
            </a:r>
            <a:r>
              <a:rPr lang="en-GB" sz="2000" dirty="0" smtClean="0"/>
              <a:t>.</a:t>
            </a:r>
            <a:endParaRPr lang="en-GB" sz="2000" dirty="0" smtClean="0"/>
          </a:p>
          <a:p>
            <a:endParaRPr lang="en-GB" sz="2000" dirty="0"/>
          </a:p>
          <a:p>
            <a:endParaRPr lang="en-GB" sz="2000" dirty="0"/>
          </a:p>
          <a:p>
            <a:endParaRPr lang="en-GB" sz="2000" dirty="0" smtClean="0"/>
          </a:p>
          <a:p>
            <a:endParaRPr lang="en-GB" sz="2000" dirty="0" smtClean="0"/>
          </a:p>
          <a:p>
            <a:endParaRPr lang="en-GB" sz="2000" dirty="0"/>
          </a:p>
        </p:txBody>
      </p:sp>
    </p:spTree>
    <p:extLst>
      <p:ext uri="{BB962C8B-B14F-4D97-AF65-F5344CB8AC3E}">
        <p14:creationId xmlns:p14="http://schemas.microsoft.com/office/powerpoint/2010/main" val="24691475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13867" y="2914387"/>
            <a:ext cx="5025873" cy="1280890"/>
          </a:xfrm>
        </p:spPr>
        <p:txBody>
          <a:bodyPr>
            <a:normAutofit fontScale="90000"/>
          </a:bodyPr>
          <a:lstStyle/>
          <a:p>
            <a:pPr algn="ctr"/>
            <a:r>
              <a:rPr lang="en-GB" sz="4400" dirty="0" smtClean="0"/>
              <a:t>THREADING ISSUES ENCOUNTERED  </a:t>
            </a:r>
            <a:endParaRPr lang="en-GB" sz="4400" dirty="0"/>
          </a:p>
        </p:txBody>
      </p:sp>
    </p:spTree>
    <p:extLst>
      <p:ext uri="{BB962C8B-B14F-4D97-AF65-F5344CB8AC3E}">
        <p14:creationId xmlns:p14="http://schemas.microsoft.com/office/powerpoint/2010/main" val="6043357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92925" y="624110"/>
            <a:ext cx="8911687" cy="620490"/>
          </a:xfrm>
        </p:spPr>
        <p:txBody>
          <a:bodyPr>
            <a:normAutofit fontScale="90000"/>
          </a:bodyPr>
          <a:lstStyle/>
          <a:p>
            <a:r>
              <a:rPr lang="en-GB" dirty="0" smtClean="0"/>
              <a:t>Race Condition &amp; How to fix it.</a:t>
            </a:r>
            <a:endParaRPr lang="en-GB" dirty="0"/>
          </a:p>
        </p:txBody>
      </p:sp>
      <p:sp>
        <p:nvSpPr>
          <p:cNvPr id="4" name="Content Placeholder 3"/>
          <p:cNvSpPr>
            <a:spLocks noGrp="1"/>
          </p:cNvSpPr>
          <p:nvPr>
            <p:ph idx="1"/>
          </p:nvPr>
        </p:nvSpPr>
        <p:spPr>
          <a:xfrm>
            <a:off x="2513012" y="1507067"/>
            <a:ext cx="8915400" cy="4851400"/>
          </a:xfrm>
        </p:spPr>
        <p:txBody>
          <a:bodyPr>
            <a:noAutofit/>
          </a:bodyPr>
          <a:lstStyle/>
          <a:p>
            <a:r>
              <a:rPr lang="en-GB" sz="2000" dirty="0" smtClean="0"/>
              <a:t>This</a:t>
            </a:r>
            <a:r>
              <a:rPr lang="en-GB" sz="2000" dirty="0" smtClean="0"/>
              <a:t> </a:t>
            </a:r>
            <a:r>
              <a:rPr lang="en-GB" sz="2000" dirty="0" smtClean="0"/>
              <a:t>is when multiple threads </a:t>
            </a:r>
            <a:r>
              <a:rPr lang="en-GB" sz="2000" dirty="0" smtClean="0"/>
              <a:t>wants to</a:t>
            </a:r>
            <a:r>
              <a:rPr lang="en-GB" sz="2000" dirty="0" smtClean="0"/>
              <a:t> access shared </a:t>
            </a:r>
            <a:r>
              <a:rPr lang="en-GB" sz="2000" dirty="0" smtClean="0"/>
              <a:t>data without proper  synchronisation. This is one of the threading issues that is encountered when working with multiple threads and it is a major concurrency problem which is implemented in </a:t>
            </a:r>
            <a:r>
              <a:rPr lang="en-GB" sz="2000" dirty="0" err="1" smtClean="0"/>
              <a:t>thread_manager_race.c</a:t>
            </a:r>
            <a:r>
              <a:rPr lang="en-GB" sz="2000" dirty="0" smtClean="0"/>
              <a:t> </a:t>
            </a:r>
          </a:p>
          <a:p>
            <a:r>
              <a:rPr lang="en-GB" sz="2000" dirty="0" smtClean="0"/>
              <a:t>Multiple threads are created using </a:t>
            </a:r>
            <a:r>
              <a:rPr lang="en-GB" sz="2000" dirty="0" err="1" smtClean="0"/>
              <a:t>pthread_create</a:t>
            </a:r>
            <a:r>
              <a:rPr lang="en-GB" sz="2000" dirty="0" smtClean="0"/>
              <a:t>() function where each thread attempted to update the same shared variable. Hence making their operations to overlap unpredictably.</a:t>
            </a:r>
          </a:p>
          <a:p>
            <a:r>
              <a:rPr lang="en-GB" sz="2000" dirty="0" smtClean="0"/>
              <a:t>The output of threads of each execution changes because threads overwrite  each other`s updates before they are fully completed.</a:t>
            </a:r>
          </a:p>
          <a:p>
            <a:r>
              <a:rPr lang="en-GB" sz="2000" dirty="0" smtClean="0"/>
              <a:t>This problem is fixed using a </a:t>
            </a:r>
            <a:r>
              <a:rPr lang="en-GB" sz="2000" dirty="0" err="1" smtClean="0"/>
              <a:t>mutex</a:t>
            </a:r>
            <a:r>
              <a:rPr lang="en-GB" sz="2000" dirty="0" smtClean="0"/>
              <a:t> in </a:t>
            </a:r>
            <a:r>
              <a:rPr lang="en-GB" sz="2000" dirty="0" err="1" smtClean="0"/>
              <a:t>thread_manager_fixed.c</a:t>
            </a:r>
            <a:r>
              <a:rPr lang="en-GB" sz="2000" dirty="0" smtClean="0"/>
              <a:t>  where a critical section is protected. It works by enabling one thread to enter the critical section at a time hence producing stable and correct output after running</a:t>
            </a:r>
          </a:p>
          <a:p>
            <a:endParaRPr lang="en-GB" sz="2000" dirty="0" smtClean="0"/>
          </a:p>
          <a:p>
            <a:endParaRPr lang="en-GB" sz="2000" dirty="0"/>
          </a:p>
        </p:txBody>
      </p:sp>
    </p:spTree>
    <p:extLst>
      <p:ext uri="{BB962C8B-B14F-4D97-AF65-F5344CB8AC3E}">
        <p14:creationId xmlns:p14="http://schemas.microsoft.com/office/powerpoint/2010/main" val="30074764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13867" y="2914387"/>
            <a:ext cx="5025873" cy="1280890"/>
          </a:xfrm>
        </p:spPr>
        <p:txBody>
          <a:bodyPr>
            <a:normAutofit fontScale="90000"/>
          </a:bodyPr>
          <a:lstStyle/>
          <a:p>
            <a:pPr algn="ctr"/>
            <a:r>
              <a:rPr lang="en-GB" sz="4400" dirty="0" smtClean="0"/>
              <a:t>C </a:t>
            </a:r>
            <a:r>
              <a:rPr lang="en-GB" sz="4400" dirty="0" err="1" smtClean="0"/>
              <a:t>vs</a:t>
            </a:r>
            <a:r>
              <a:rPr lang="en-GB" sz="4400" dirty="0" smtClean="0"/>
              <a:t> PYTHON: Lessons Learned</a:t>
            </a:r>
            <a:endParaRPr lang="en-GB" sz="4400" dirty="0"/>
          </a:p>
        </p:txBody>
      </p:sp>
    </p:spTree>
    <p:extLst>
      <p:ext uri="{BB962C8B-B14F-4D97-AF65-F5344CB8AC3E}">
        <p14:creationId xmlns:p14="http://schemas.microsoft.com/office/powerpoint/2010/main" val="11887317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4724" y="234643"/>
            <a:ext cx="8911687" cy="281823"/>
          </a:xfrm>
        </p:spPr>
        <p:txBody>
          <a:bodyPr>
            <a:noAutofit/>
          </a:bodyPr>
          <a:lstStyle/>
          <a:p>
            <a:r>
              <a:rPr lang="en-GB" sz="2000" dirty="0" smtClean="0"/>
              <a:t>WHAT I HAVE LEARNED ABOUT C &amp; PYTHON</a:t>
            </a:r>
            <a:endParaRPr lang="en-GB" sz="2000" dirty="0"/>
          </a:p>
        </p:txBody>
      </p:sp>
      <p:sp>
        <p:nvSpPr>
          <p:cNvPr id="3" name="Content Placeholder 2"/>
          <p:cNvSpPr>
            <a:spLocks noGrp="1"/>
          </p:cNvSpPr>
          <p:nvPr>
            <p:ph idx="1"/>
          </p:nvPr>
        </p:nvSpPr>
        <p:spPr>
          <a:xfrm>
            <a:off x="1617133" y="592667"/>
            <a:ext cx="9887479" cy="6036733"/>
          </a:xfrm>
        </p:spPr>
        <p:txBody>
          <a:bodyPr>
            <a:normAutofit/>
          </a:bodyPr>
          <a:lstStyle/>
          <a:p>
            <a:r>
              <a:rPr lang="en-GB" dirty="0"/>
              <a:t>Shared memory and pipes in </a:t>
            </a:r>
            <a:r>
              <a:rPr lang="en-GB" dirty="0" err="1"/>
              <a:t>ipc_module.c</a:t>
            </a:r>
            <a:r>
              <a:rPr lang="en-GB" dirty="0"/>
              <a:t> requires direct interaction with operating system resources which helps in internal working of IPC.  The implementation provide deeper understanding of concurrency, resource management.</a:t>
            </a:r>
          </a:p>
          <a:p>
            <a:r>
              <a:rPr lang="en-GB" dirty="0" smtClean="0"/>
              <a:t>Implementing </a:t>
            </a:r>
            <a:r>
              <a:rPr lang="en-GB" dirty="0" err="1" smtClean="0"/>
              <a:t>EduOS</a:t>
            </a:r>
            <a:r>
              <a:rPr lang="en-GB" dirty="0" smtClean="0"/>
              <a:t> in both C&amp; Python demonstrates the difference between low-level and high-level programming . </a:t>
            </a:r>
            <a:endParaRPr lang="en-GB" dirty="0" smtClean="0"/>
          </a:p>
          <a:p>
            <a:r>
              <a:rPr lang="en-GB" dirty="0"/>
              <a:t>Overall, C provides low-level control and understanding of operating internals, while python improved readability development and visualisation. Using both programming languages together provides experience with different abstraction levels</a:t>
            </a:r>
            <a:r>
              <a:rPr lang="en-GB" dirty="0" smtClean="0"/>
              <a:t>.</a:t>
            </a:r>
            <a:endParaRPr lang="en-GB" dirty="0" smtClean="0"/>
          </a:p>
          <a:p>
            <a:r>
              <a:rPr lang="en-GB" dirty="0" smtClean="0"/>
              <a:t>Same </a:t>
            </a:r>
            <a:r>
              <a:rPr lang="en-GB" dirty="0" smtClean="0"/>
              <a:t>scheduling concepts in python is much easier to implement. In scheduler_sim.py, ready queue is managed using python lists &amp; objects instead  of manual memory management. </a:t>
            </a:r>
            <a:endParaRPr lang="en-GB" dirty="0"/>
          </a:p>
          <a:p>
            <a:r>
              <a:rPr lang="en-GB" dirty="0" smtClean="0"/>
              <a:t>Scheduling  Algorithms are written more quickly and clear and these algorithms can be converted  into visualisation  through the use of gantt.py where python modules  </a:t>
            </a:r>
            <a:r>
              <a:rPr lang="en-GB" dirty="0" err="1" smtClean="0"/>
              <a:t>Matplotlib</a:t>
            </a:r>
            <a:r>
              <a:rPr lang="en-GB" dirty="0" smtClean="0"/>
              <a:t> are used to generate charts and comparison graphs</a:t>
            </a:r>
            <a:r>
              <a:rPr lang="en-GB" dirty="0" smtClean="0"/>
              <a:t>.</a:t>
            </a:r>
          </a:p>
          <a:p>
            <a:r>
              <a:rPr lang="en-GB" dirty="0"/>
              <a:t>Process management&amp; threading in c requires manual handling of resources and synchronisation. For example, </a:t>
            </a:r>
            <a:r>
              <a:rPr lang="en-GB" dirty="0" err="1"/>
              <a:t>thread_manager_race.c</a:t>
            </a:r>
            <a:r>
              <a:rPr lang="en-GB" dirty="0"/>
              <a:t> </a:t>
            </a:r>
            <a:r>
              <a:rPr lang="en-GB" dirty="0" err="1"/>
              <a:t>showrace</a:t>
            </a:r>
            <a:r>
              <a:rPr lang="en-GB" dirty="0"/>
              <a:t> condition which produce inconsistent results and </a:t>
            </a:r>
            <a:r>
              <a:rPr lang="en-GB" dirty="0" err="1"/>
              <a:t>thread_manager_fixed.c</a:t>
            </a:r>
            <a:r>
              <a:rPr lang="en-GB" dirty="0"/>
              <a:t> is used to fix he race condition using </a:t>
            </a:r>
            <a:r>
              <a:rPr lang="en-GB" dirty="0" err="1"/>
              <a:t>mutex</a:t>
            </a:r>
            <a:r>
              <a:rPr lang="en-GB" dirty="0"/>
              <a:t> locks.</a:t>
            </a:r>
          </a:p>
          <a:p>
            <a:endParaRPr lang="en-GB" dirty="0" smtClean="0"/>
          </a:p>
          <a:p>
            <a:endParaRPr lang="en-GB" dirty="0"/>
          </a:p>
        </p:txBody>
      </p:sp>
    </p:spTree>
    <p:extLst>
      <p:ext uri="{BB962C8B-B14F-4D97-AF65-F5344CB8AC3E}">
        <p14:creationId xmlns:p14="http://schemas.microsoft.com/office/powerpoint/2010/main" val="33985759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71801" y="2914387"/>
            <a:ext cx="6849532" cy="1280890"/>
          </a:xfrm>
        </p:spPr>
        <p:txBody>
          <a:bodyPr>
            <a:normAutofit fontScale="90000"/>
          </a:bodyPr>
          <a:lstStyle/>
          <a:p>
            <a:r>
              <a:rPr lang="en-GB" sz="4400" dirty="0" smtClean="0"/>
              <a:t>CHALLENGES &amp; SOLUTIONS</a:t>
            </a:r>
            <a:endParaRPr lang="en-GB" sz="4400" dirty="0"/>
          </a:p>
        </p:txBody>
      </p:sp>
    </p:spTree>
    <p:extLst>
      <p:ext uri="{BB962C8B-B14F-4D97-AF65-F5344CB8AC3E}">
        <p14:creationId xmlns:p14="http://schemas.microsoft.com/office/powerpoint/2010/main" val="9659666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182542" y="480176"/>
            <a:ext cx="8911687" cy="271240"/>
          </a:xfrm>
        </p:spPr>
        <p:txBody>
          <a:bodyPr>
            <a:noAutofit/>
          </a:bodyPr>
          <a:lstStyle/>
          <a:p>
            <a:r>
              <a:rPr lang="en-GB" sz="2000" dirty="0" smtClean="0"/>
              <a:t>CHALLENGES AND SOLUTIONS</a:t>
            </a:r>
            <a:endParaRPr lang="en-GB" sz="2000" dirty="0"/>
          </a:p>
        </p:txBody>
      </p:sp>
      <p:sp>
        <p:nvSpPr>
          <p:cNvPr id="4" name="Content Placeholder 3"/>
          <p:cNvSpPr>
            <a:spLocks noGrp="1"/>
          </p:cNvSpPr>
          <p:nvPr>
            <p:ph idx="1"/>
          </p:nvPr>
        </p:nvSpPr>
        <p:spPr>
          <a:xfrm>
            <a:off x="1847850" y="971550"/>
            <a:ext cx="9656762" cy="5467350"/>
          </a:xfrm>
        </p:spPr>
        <p:txBody>
          <a:bodyPr>
            <a:normAutofit/>
          </a:bodyPr>
          <a:lstStyle/>
          <a:p>
            <a:pPr>
              <a:buFont typeface="Wingdings 3" charset="2"/>
              <a:buAutoNum type="arabicPeriod"/>
            </a:pPr>
            <a:r>
              <a:rPr lang="en-GB" dirty="0"/>
              <a:t>Using </a:t>
            </a:r>
            <a:r>
              <a:rPr lang="en-GB" dirty="0" smtClean="0"/>
              <a:t>another name for local project which is different from </a:t>
            </a:r>
            <a:r>
              <a:rPr lang="en-GB" dirty="0"/>
              <a:t>to the one that is used as repository name. This </a:t>
            </a:r>
            <a:r>
              <a:rPr lang="en-GB" dirty="0" smtClean="0"/>
              <a:t>lead </a:t>
            </a:r>
            <a:r>
              <a:rPr lang="en-GB" dirty="0"/>
              <a:t>to the creation of new repository </a:t>
            </a:r>
            <a:r>
              <a:rPr lang="en-GB" dirty="0" smtClean="0"/>
              <a:t>hence </a:t>
            </a:r>
            <a:r>
              <a:rPr lang="en-GB" dirty="0"/>
              <a:t>invited a collaborator  in one repository may not have access to another repository without invitation. Using the same name for both repository and local project and make sure that the collaborator is in the right repository before linking the </a:t>
            </a:r>
            <a:r>
              <a:rPr lang="en-GB" dirty="0" err="1"/>
              <a:t>github</a:t>
            </a:r>
            <a:r>
              <a:rPr lang="en-GB" dirty="0"/>
              <a:t> repository to the local project</a:t>
            </a:r>
            <a:r>
              <a:rPr lang="en-GB" dirty="0" smtClean="0"/>
              <a:t>.</a:t>
            </a:r>
            <a:endParaRPr lang="en-GB" dirty="0"/>
          </a:p>
          <a:p>
            <a:pPr>
              <a:buAutoNum type="arabicPeriod"/>
            </a:pPr>
            <a:r>
              <a:rPr lang="en-GB" dirty="0" smtClean="0"/>
              <a:t>Header </a:t>
            </a:r>
            <a:r>
              <a:rPr lang="en-GB" dirty="0" smtClean="0"/>
              <a:t>file not found inside </a:t>
            </a:r>
            <a:r>
              <a:rPr lang="en-GB" dirty="0" err="1" smtClean="0"/>
              <a:t>eduos.h</a:t>
            </a:r>
            <a:r>
              <a:rPr lang="en-GB" dirty="0" smtClean="0"/>
              <a:t> While compiling the C modules GCC produce error like “No such file or directory”  . This problems occur because the header file that in supposed to be present or used in one of the C programs is not available inside he file that holds all header </a:t>
            </a:r>
            <a:r>
              <a:rPr lang="en-GB" dirty="0" smtClean="0"/>
              <a:t>files </a:t>
            </a:r>
            <a:r>
              <a:rPr lang="en-GB" dirty="0" smtClean="0"/>
              <a:t>. This was fixed by placing the needed header file inside the </a:t>
            </a:r>
            <a:r>
              <a:rPr lang="en-GB" dirty="0" err="1" smtClean="0"/>
              <a:t>eduos.h</a:t>
            </a:r>
            <a:r>
              <a:rPr lang="en-GB" dirty="0" smtClean="0"/>
              <a:t>.</a:t>
            </a:r>
            <a:endParaRPr lang="en-GB" dirty="0" smtClean="0"/>
          </a:p>
          <a:p>
            <a:pPr>
              <a:buAutoNum type="arabicPeriod"/>
            </a:pPr>
            <a:r>
              <a:rPr lang="en-GB" dirty="0" smtClean="0"/>
              <a:t>Unable</a:t>
            </a:r>
            <a:r>
              <a:rPr lang="en-GB" dirty="0" smtClean="0"/>
              <a:t> </a:t>
            </a:r>
            <a:r>
              <a:rPr lang="en-GB" dirty="0" smtClean="0"/>
              <a:t>to </a:t>
            </a:r>
            <a:r>
              <a:rPr lang="en-GB" dirty="0"/>
              <a:t>save automatically </a:t>
            </a:r>
            <a:r>
              <a:rPr lang="en-GB" dirty="0" smtClean="0"/>
              <a:t>generated </a:t>
            </a:r>
            <a:r>
              <a:rPr lang="en-GB" dirty="0" smtClean="0"/>
              <a:t>images. </a:t>
            </a:r>
            <a:r>
              <a:rPr lang="en-GB" dirty="0" smtClean="0"/>
              <a:t>Generated charts </a:t>
            </a:r>
            <a:r>
              <a:rPr lang="en-GB" dirty="0" smtClean="0"/>
              <a:t>from the file called </a:t>
            </a:r>
            <a:r>
              <a:rPr lang="en-GB" dirty="0" smtClean="0"/>
              <a:t>gantt.py fails to save themselves because the output directory did not exist. This can be solved by using exact path written in </a:t>
            </a:r>
            <a:r>
              <a:rPr lang="en-GB" dirty="0" err="1" smtClean="0"/>
              <a:t>os.makedirs</a:t>
            </a:r>
            <a:r>
              <a:rPr lang="en-GB" dirty="0" smtClean="0"/>
              <a:t>(). And make sure that .</a:t>
            </a:r>
            <a:r>
              <a:rPr lang="en-GB" dirty="0" err="1" smtClean="0"/>
              <a:t>png</a:t>
            </a:r>
            <a:r>
              <a:rPr lang="en-GB" dirty="0" smtClean="0"/>
              <a:t> and .gif files are stored successfully</a:t>
            </a:r>
            <a:r>
              <a:rPr lang="en-GB" dirty="0" smtClean="0"/>
              <a:t>.</a:t>
            </a:r>
            <a:endParaRPr lang="en-GB" dirty="0" smtClean="0"/>
          </a:p>
        </p:txBody>
      </p:sp>
    </p:spTree>
    <p:extLst>
      <p:ext uri="{BB962C8B-B14F-4D97-AF65-F5344CB8AC3E}">
        <p14:creationId xmlns:p14="http://schemas.microsoft.com/office/powerpoint/2010/main" val="8732648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Content Placeholder 4"/>
          <p:cNvSpPr>
            <a:spLocks noGrp="1"/>
          </p:cNvSpPr>
          <p:nvPr>
            <p:ph sz="half" idx="1"/>
          </p:nvPr>
        </p:nvSpPr>
        <p:spPr/>
        <p:txBody>
          <a:bodyPr/>
          <a:lstStyle/>
          <a:p>
            <a:r>
              <a:rPr lang="en-US" dirty="0" smtClean="0"/>
              <a:t>Repository </a:t>
            </a:r>
            <a:r>
              <a:rPr lang="en-US" dirty="0"/>
              <a:t>link: </a:t>
            </a:r>
            <a:r>
              <a:rPr lang="en-US" dirty="0">
                <a:hlinkClick r:id="rId2"/>
              </a:rPr>
              <a:t>https://</a:t>
            </a:r>
            <a:r>
              <a:rPr lang="en-US" dirty="0" smtClean="0">
                <a:hlinkClick r:id="rId2"/>
              </a:rPr>
              <a:t>github.com/lorlettagogoda/operating-system.git</a:t>
            </a:r>
            <a:endParaRPr lang="en-US" dirty="0" smtClean="0"/>
          </a:p>
          <a:p>
            <a:pPr marL="0" indent="0">
              <a:buNone/>
            </a:pPr>
            <a:endParaRPr lang="en-US" dirty="0"/>
          </a:p>
          <a:p>
            <a:endParaRPr lang="en-US" dirty="0" smtClean="0"/>
          </a:p>
          <a:p>
            <a:endParaRPr lang="en-US" dirty="0"/>
          </a:p>
          <a:p>
            <a:r>
              <a:rPr lang="en-US" dirty="0" smtClean="0"/>
              <a:t>Total  Commits : 22 commits</a:t>
            </a:r>
            <a:endParaRPr lang="en-US" dirty="0"/>
          </a:p>
        </p:txBody>
      </p:sp>
      <p:sp>
        <p:nvSpPr>
          <p:cNvPr id="6" name="Content Placeholder 5"/>
          <p:cNvSpPr>
            <a:spLocks noGrp="1"/>
          </p:cNvSpPr>
          <p:nvPr>
            <p:ph sz="half" idx="2"/>
          </p:nvPr>
        </p:nvSpPr>
        <p:spPr/>
        <p:txBody>
          <a:bodyPr/>
          <a:lstStyle/>
          <a:p>
            <a:r>
              <a:rPr lang="en-US" dirty="0" smtClean="0"/>
              <a:t>Output after running </a:t>
            </a:r>
            <a:r>
              <a:rPr lang="en-US" dirty="0" err="1" smtClean="0"/>
              <a:t>git</a:t>
            </a:r>
            <a:r>
              <a:rPr lang="en-US" dirty="0" smtClean="0"/>
              <a:t> log –</a:t>
            </a:r>
            <a:r>
              <a:rPr lang="en-US" dirty="0" err="1" smtClean="0"/>
              <a:t>oneline</a:t>
            </a:r>
            <a:r>
              <a:rPr lang="en-US" dirty="0" smtClean="0"/>
              <a:t> :</a:t>
            </a:r>
            <a:endParaRPr lang="en-US" dirty="0"/>
          </a:p>
        </p:txBody>
      </p:sp>
      <p:pic>
        <p:nvPicPr>
          <p:cNvPr id="7" name="Picture 6"/>
          <p:cNvPicPr>
            <a:picLocks noChangeAspect="1"/>
          </p:cNvPicPr>
          <p:nvPr/>
        </p:nvPicPr>
        <p:blipFill>
          <a:blip r:embed="rId3"/>
          <a:stretch>
            <a:fillRect/>
          </a:stretch>
        </p:blipFill>
        <p:spPr>
          <a:xfrm>
            <a:off x="5234349" y="2868327"/>
            <a:ext cx="5093558" cy="3403224"/>
          </a:xfrm>
          <a:prstGeom prst="rect">
            <a:avLst/>
          </a:prstGeom>
        </p:spPr>
      </p:pic>
    </p:spTree>
    <p:extLst>
      <p:ext uri="{BB962C8B-B14F-4D97-AF65-F5344CB8AC3E}">
        <p14:creationId xmlns:p14="http://schemas.microsoft.com/office/powerpoint/2010/main" val="1101616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06135" y="2727158"/>
            <a:ext cx="5415457" cy="795688"/>
          </a:xfrm>
        </p:spPr>
        <p:txBody>
          <a:bodyPr/>
          <a:lstStyle/>
          <a:p>
            <a:r>
              <a:rPr lang="en-US" dirty="0" smtClean="0"/>
              <a:t>THANKS FOR LISTENING</a:t>
            </a:r>
            <a:endParaRPr lang="en-US" dirty="0"/>
          </a:p>
        </p:txBody>
      </p:sp>
    </p:spTree>
    <p:extLst>
      <p:ext uri="{BB962C8B-B14F-4D97-AF65-F5344CB8AC3E}">
        <p14:creationId xmlns:p14="http://schemas.microsoft.com/office/powerpoint/2010/main" val="335634098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633</TotalTime>
  <Words>1595</Words>
  <Application>Microsoft Office PowerPoint</Application>
  <PresentationFormat>Widescreen</PresentationFormat>
  <Paragraphs>115</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Trebuchet MS</vt:lpstr>
      <vt:lpstr>Wingdings 3</vt:lpstr>
      <vt:lpstr>Facet</vt:lpstr>
      <vt:lpstr>EDUOS SIMULATOR PROJECT</vt:lpstr>
      <vt:lpstr>WHAT I BUILT &amp; LEARNED</vt:lpstr>
      <vt:lpstr>PowerPoint Presentation</vt:lpstr>
      <vt:lpstr>1. C Core Simulation Part</vt:lpstr>
      <vt:lpstr>2. Python Simulation part</vt:lpstr>
      <vt:lpstr>3. Integrating c and python</vt:lpstr>
      <vt:lpstr>PowerPoint Presentation</vt:lpstr>
      <vt:lpstr>DESIGN DECISIONS </vt:lpstr>
      <vt:lpstr>PowerPoint Presentation</vt:lpstr>
      <vt:lpstr>Design choices with reference to OS theory</vt:lpstr>
      <vt:lpstr>SYLLABUS MAPPING TABLE  </vt:lpstr>
      <vt:lpstr>SYLLABUS MAPPING TABLE</vt:lpstr>
      <vt:lpstr>SCHEDULING RESULTS &amp; ANALYSIS</vt:lpstr>
      <vt:lpstr>FCFS &amp; SJF Result and Analysis</vt:lpstr>
      <vt:lpstr>RR &amp; Priority Results and Analysis</vt:lpstr>
      <vt:lpstr>ALGO WITH LOWEST WT, WHY &amp; WHEN WOULD A DIFFERENT ALGO WIN</vt:lpstr>
      <vt:lpstr>PowerPoint Presentation</vt:lpstr>
      <vt:lpstr>THREADING ISSUES ENCOUNTERED  </vt:lpstr>
      <vt:lpstr>Race Condition &amp; How to fix it.</vt:lpstr>
      <vt:lpstr>C vs PYTHON: Lessons Learned</vt:lpstr>
      <vt:lpstr>WHAT I HAVE LEARNED ABOUT C &amp; PYTHON</vt:lpstr>
      <vt:lpstr>CHALLENGES &amp; SOLUTIONS</vt:lpstr>
      <vt:lpstr>CHALLENGES AND SOLUTIONS</vt:lpstr>
      <vt:lpstr>PowerPoint Presentation</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Lorleta</cp:lastModifiedBy>
  <cp:revision>391</cp:revision>
  <dcterms:created xsi:type="dcterms:W3CDTF">2026-05-25T13:03:57Z</dcterms:created>
  <dcterms:modified xsi:type="dcterms:W3CDTF">2026-05-27T20:52:18Z</dcterms:modified>
</cp:coreProperties>
</file>